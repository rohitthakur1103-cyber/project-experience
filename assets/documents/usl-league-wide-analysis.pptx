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0" r:id="rId3"/>
    <p:sldId id="271" r:id="rId4"/>
    <p:sldId id="267" r:id="rId5"/>
    <p:sldId id="257" r:id="rId6"/>
    <p:sldId id="264" r:id="rId7"/>
    <p:sldId id="276" r:id="rId8"/>
    <p:sldId id="260" r:id="rId9"/>
    <p:sldId id="265" r:id="rId10"/>
    <p:sldId id="266" r:id="rId11"/>
    <p:sldId id="268" r:id="rId12"/>
    <p:sldId id="261" r:id="rId13"/>
    <p:sldId id="272" r:id="rId14"/>
    <p:sldId id="262" r:id="rId15"/>
    <p:sldId id="274" r:id="rId16"/>
    <p:sldId id="263" r:id="rId17"/>
    <p:sldId id="275" r:id="rId18"/>
    <p:sldId id="269" r:id="rId19"/>
    <p:sldId id="258" r:id="rId20"/>
    <p:sldId id="259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B3703-785D-78F5-09C5-4CFD3CA1600F}" v="67" dt="2025-08-05T16:59:46.8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51F360-01E0-49B3-993E-1129CE2675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AF794AF-FFE7-4782-8749-49890F873679}">
      <dgm:prSet/>
      <dgm:spPr/>
      <dgm:t>
        <a:bodyPr/>
        <a:lstStyle/>
        <a:p>
          <a:r>
            <a:rPr lang="en-US" b="1"/>
            <a:t>Top 5 Goals per 90 (Mid-Season):</a:t>
          </a:r>
          <a:endParaRPr lang="en-US"/>
        </a:p>
      </dgm:t>
    </dgm:pt>
    <dgm:pt modelId="{25DEA9D8-1886-459D-8FB1-F2996FAA217D}" type="parTrans" cxnId="{33E72563-C0E5-4D7E-A05C-3A1D7C2E400C}">
      <dgm:prSet/>
      <dgm:spPr/>
      <dgm:t>
        <a:bodyPr/>
        <a:lstStyle/>
        <a:p>
          <a:endParaRPr lang="en-US"/>
        </a:p>
      </dgm:t>
    </dgm:pt>
    <dgm:pt modelId="{6E29C73B-3BD9-42F7-8BEA-7AC85735B2A4}" type="sibTrans" cxnId="{33E72563-C0E5-4D7E-A05C-3A1D7C2E400C}">
      <dgm:prSet/>
      <dgm:spPr/>
      <dgm:t>
        <a:bodyPr/>
        <a:lstStyle/>
        <a:p>
          <a:endParaRPr lang="en-US"/>
        </a:p>
      </dgm:t>
    </dgm:pt>
    <dgm:pt modelId="{68775ECC-F1AC-4132-ACCA-2EF34E1CB0AA}">
      <dgm:prSet/>
      <dgm:spPr/>
      <dgm:t>
        <a:bodyPr/>
        <a:lstStyle/>
        <a:p>
          <a:r>
            <a:rPr lang="en-US" b="1"/>
            <a:t>Quinn Mahoney (San Juan SC)</a:t>
          </a:r>
          <a:r>
            <a:rPr lang="en-US"/>
            <a:t> – 1.57</a:t>
          </a:r>
        </a:p>
      </dgm:t>
    </dgm:pt>
    <dgm:pt modelId="{ABBFBAAD-51D2-4F84-9286-6451ACD856D0}" type="parTrans" cxnId="{CF728719-E1B6-472C-B464-411FFACEC833}">
      <dgm:prSet/>
      <dgm:spPr/>
      <dgm:t>
        <a:bodyPr/>
        <a:lstStyle/>
        <a:p>
          <a:endParaRPr lang="en-US"/>
        </a:p>
      </dgm:t>
    </dgm:pt>
    <dgm:pt modelId="{595A2EC1-6FEA-4A95-A5BC-FB5AE6D1728B}" type="sibTrans" cxnId="{CF728719-E1B6-472C-B464-411FFACEC833}">
      <dgm:prSet/>
      <dgm:spPr/>
      <dgm:t>
        <a:bodyPr/>
        <a:lstStyle/>
        <a:p>
          <a:endParaRPr lang="en-US"/>
        </a:p>
      </dgm:t>
    </dgm:pt>
    <dgm:pt modelId="{04338626-B56D-493A-927C-7959A50235FA}">
      <dgm:prSet/>
      <dgm:spPr/>
      <dgm:t>
        <a:bodyPr/>
        <a:lstStyle/>
        <a:p>
          <a:r>
            <a:rPr lang="en-US"/>
            <a:t>Sean Battistessa – 1.35</a:t>
          </a:r>
        </a:p>
      </dgm:t>
    </dgm:pt>
    <dgm:pt modelId="{06124C13-D2EC-4D6D-9CD2-42973A01B33B}" type="parTrans" cxnId="{3FCB3ABF-8738-4A21-BB26-A2F67A7A82D8}">
      <dgm:prSet/>
      <dgm:spPr/>
      <dgm:t>
        <a:bodyPr/>
        <a:lstStyle/>
        <a:p>
          <a:endParaRPr lang="en-US"/>
        </a:p>
      </dgm:t>
    </dgm:pt>
    <dgm:pt modelId="{FA438FDC-9D3F-4B00-90F5-C07C41483021}" type="sibTrans" cxnId="{3FCB3ABF-8738-4A21-BB26-A2F67A7A82D8}">
      <dgm:prSet/>
      <dgm:spPr/>
      <dgm:t>
        <a:bodyPr/>
        <a:lstStyle/>
        <a:p>
          <a:endParaRPr lang="en-US"/>
        </a:p>
      </dgm:t>
    </dgm:pt>
    <dgm:pt modelId="{3C12CCA0-A672-41C4-8C26-1D466FEFAC20}">
      <dgm:prSet/>
      <dgm:spPr/>
      <dgm:t>
        <a:bodyPr/>
        <a:lstStyle/>
        <a:p>
          <a:r>
            <a:rPr lang="en-US"/>
            <a:t>Zac Giles – 1.31</a:t>
          </a:r>
        </a:p>
      </dgm:t>
    </dgm:pt>
    <dgm:pt modelId="{50FBF955-8BAE-488F-B31B-D2B13EB39ED5}" type="parTrans" cxnId="{5C65368B-47D7-4078-95C8-D5081865713A}">
      <dgm:prSet/>
      <dgm:spPr/>
      <dgm:t>
        <a:bodyPr/>
        <a:lstStyle/>
        <a:p>
          <a:endParaRPr lang="en-US"/>
        </a:p>
      </dgm:t>
    </dgm:pt>
    <dgm:pt modelId="{577B8D85-CE1A-4B96-8EFB-C83673D2ED26}" type="sibTrans" cxnId="{5C65368B-47D7-4078-95C8-D5081865713A}">
      <dgm:prSet/>
      <dgm:spPr/>
      <dgm:t>
        <a:bodyPr/>
        <a:lstStyle/>
        <a:p>
          <a:endParaRPr lang="en-US"/>
        </a:p>
      </dgm:t>
    </dgm:pt>
    <dgm:pt modelId="{762F8751-A814-41E0-A132-B4BF5FD3A859}">
      <dgm:prSet/>
      <dgm:spPr/>
      <dgm:t>
        <a:bodyPr/>
        <a:lstStyle/>
        <a:p>
          <a:r>
            <a:rPr lang="en-US"/>
            <a:t>Carlos Zambrano – 1.20</a:t>
          </a:r>
        </a:p>
      </dgm:t>
    </dgm:pt>
    <dgm:pt modelId="{CC3D669B-D919-4592-B190-8B9307CD8AAF}" type="parTrans" cxnId="{DDC5477A-A27A-4F3C-9E28-BA59A8F2C06F}">
      <dgm:prSet/>
      <dgm:spPr/>
      <dgm:t>
        <a:bodyPr/>
        <a:lstStyle/>
        <a:p>
          <a:endParaRPr lang="en-US"/>
        </a:p>
      </dgm:t>
    </dgm:pt>
    <dgm:pt modelId="{EB9A25ED-F782-45DE-88A0-2AF16686F24C}" type="sibTrans" cxnId="{DDC5477A-A27A-4F3C-9E28-BA59A8F2C06F}">
      <dgm:prSet/>
      <dgm:spPr/>
      <dgm:t>
        <a:bodyPr/>
        <a:lstStyle/>
        <a:p>
          <a:endParaRPr lang="en-US"/>
        </a:p>
      </dgm:t>
    </dgm:pt>
    <dgm:pt modelId="{0AC45DA4-A6CC-47FA-B1B5-04DC555C04B1}">
      <dgm:prSet/>
      <dgm:spPr/>
      <dgm:t>
        <a:bodyPr/>
        <a:lstStyle/>
        <a:p>
          <a:r>
            <a:rPr lang="en-US"/>
            <a:t>Tommy Robertson – 1.15</a:t>
          </a:r>
        </a:p>
      </dgm:t>
    </dgm:pt>
    <dgm:pt modelId="{C81B29BB-D63B-4538-910A-55583E1557D2}" type="parTrans" cxnId="{F1877590-4D99-4999-B8AE-5087C374A495}">
      <dgm:prSet/>
      <dgm:spPr/>
      <dgm:t>
        <a:bodyPr/>
        <a:lstStyle/>
        <a:p>
          <a:endParaRPr lang="en-US"/>
        </a:p>
      </dgm:t>
    </dgm:pt>
    <dgm:pt modelId="{42BCCCFD-6C4A-4DDB-9110-E91F0DA176E3}" type="sibTrans" cxnId="{F1877590-4D99-4999-B8AE-5087C374A495}">
      <dgm:prSet/>
      <dgm:spPr/>
      <dgm:t>
        <a:bodyPr/>
        <a:lstStyle/>
        <a:p>
          <a:endParaRPr lang="en-US"/>
        </a:p>
      </dgm:t>
    </dgm:pt>
    <dgm:pt modelId="{AC6EDB4F-6D12-4B47-8F72-10D0F843B1C9}">
      <dgm:prSet/>
      <dgm:spPr/>
      <dgm:t>
        <a:bodyPr/>
        <a:lstStyle/>
        <a:p>
          <a:r>
            <a:rPr lang="en-US" b="1"/>
            <a:t>Insight:</a:t>
          </a:r>
          <a:endParaRPr lang="en-US"/>
        </a:p>
      </dgm:t>
    </dgm:pt>
    <dgm:pt modelId="{90D6F4E3-A18A-4961-8198-54EA6E63A6CA}" type="parTrans" cxnId="{22EB87F8-3499-4A9F-8D9D-919589E068E9}">
      <dgm:prSet/>
      <dgm:spPr/>
      <dgm:t>
        <a:bodyPr/>
        <a:lstStyle/>
        <a:p>
          <a:endParaRPr lang="en-US"/>
        </a:p>
      </dgm:t>
    </dgm:pt>
    <dgm:pt modelId="{9FCE3C8A-9B6C-4B23-8CF7-788D06E3F9F5}" type="sibTrans" cxnId="{22EB87F8-3499-4A9F-8D9D-919589E068E9}">
      <dgm:prSet/>
      <dgm:spPr/>
      <dgm:t>
        <a:bodyPr/>
        <a:lstStyle/>
        <a:p>
          <a:endParaRPr lang="en-US"/>
        </a:p>
      </dgm:t>
    </dgm:pt>
    <dgm:pt modelId="{76150587-BE6F-4467-880B-28E3955867AB}">
      <dgm:prSet/>
      <dgm:spPr/>
      <dgm:t>
        <a:bodyPr/>
        <a:lstStyle/>
        <a:p>
          <a:r>
            <a:rPr lang="en-US"/>
            <a:t>Mahoney emerged as </a:t>
          </a:r>
          <a:r>
            <a:rPr lang="en-US" b="1"/>
            <a:t>early-season leader</a:t>
          </a:r>
          <a:r>
            <a:rPr lang="en-US"/>
            <a:t>.</a:t>
          </a:r>
        </a:p>
      </dgm:t>
    </dgm:pt>
    <dgm:pt modelId="{249B8D4E-D223-4258-9397-94E7A4060191}" type="parTrans" cxnId="{37CB3B53-C824-449E-825B-A5FC49ED7CFD}">
      <dgm:prSet/>
      <dgm:spPr/>
      <dgm:t>
        <a:bodyPr/>
        <a:lstStyle/>
        <a:p>
          <a:endParaRPr lang="en-US"/>
        </a:p>
      </dgm:t>
    </dgm:pt>
    <dgm:pt modelId="{24C2F42E-AF4E-4FDF-AB4D-881B4D31D69D}" type="sibTrans" cxnId="{37CB3B53-C824-449E-825B-A5FC49ED7CFD}">
      <dgm:prSet/>
      <dgm:spPr/>
      <dgm:t>
        <a:bodyPr/>
        <a:lstStyle/>
        <a:p>
          <a:endParaRPr lang="en-US"/>
        </a:p>
      </dgm:t>
    </dgm:pt>
    <dgm:pt modelId="{CEE3E9E9-AD5C-4E6B-89F9-71F7A8E3366A}">
      <dgm:prSet/>
      <dgm:spPr/>
      <dgm:t>
        <a:bodyPr/>
        <a:lstStyle/>
        <a:p>
          <a:r>
            <a:rPr lang="en-US"/>
            <a:t>Players on non-top teams (e.g., Zambrano) are </a:t>
          </a:r>
          <a:r>
            <a:rPr lang="en-US" b="1"/>
            <a:t>prime scouting targets</a:t>
          </a:r>
          <a:r>
            <a:rPr lang="en-US"/>
            <a:t>.</a:t>
          </a:r>
        </a:p>
      </dgm:t>
    </dgm:pt>
    <dgm:pt modelId="{77589B17-5C3D-4201-929A-359BF29BD2A6}" type="parTrans" cxnId="{6986CBA5-354B-4906-96E7-71BFA8D9119F}">
      <dgm:prSet/>
      <dgm:spPr/>
      <dgm:t>
        <a:bodyPr/>
        <a:lstStyle/>
        <a:p>
          <a:endParaRPr lang="en-US"/>
        </a:p>
      </dgm:t>
    </dgm:pt>
    <dgm:pt modelId="{7BE87935-E077-445E-AC1C-3EB6DC298FB1}" type="sibTrans" cxnId="{6986CBA5-354B-4906-96E7-71BFA8D9119F}">
      <dgm:prSet/>
      <dgm:spPr/>
      <dgm:t>
        <a:bodyPr/>
        <a:lstStyle/>
        <a:p>
          <a:endParaRPr lang="en-US"/>
        </a:p>
      </dgm:t>
    </dgm:pt>
    <dgm:pt modelId="{CE7A2278-8839-4F1D-9FFE-4E83C42364AE}" type="pres">
      <dgm:prSet presAssocID="{3D51F360-01E0-49B3-993E-1129CE2675CC}" presName="linear" presStyleCnt="0">
        <dgm:presLayoutVars>
          <dgm:animLvl val="lvl"/>
          <dgm:resizeHandles val="exact"/>
        </dgm:presLayoutVars>
      </dgm:prSet>
      <dgm:spPr/>
    </dgm:pt>
    <dgm:pt modelId="{A48FA487-F9E8-4FDA-A2C5-6BB3848735ED}" type="pres">
      <dgm:prSet presAssocID="{9AF794AF-FFE7-4782-8749-49890F8736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A9508A6-1FC7-4925-83E6-BF704F08BE80}" type="pres">
      <dgm:prSet presAssocID="{9AF794AF-FFE7-4782-8749-49890F873679}" presName="childText" presStyleLbl="revTx" presStyleIdx="0" presStyleCnt="2">
        <dgm:presLayoutVars>
          <dgm:bulletEnabled val="1"/>
        </dgm:presLayoutVars>
      </dgm:prSet>
      <dgm:spPr/>
    </dgm:pt>
    <dgm:pt modelId="{25F23282-9982-48D7-8FEA-4328924735F0}" type="pres">
      <dgm:prSet presAssocID="{AC6EDB4F-6D12-4B47-8F72-10D0F843B1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F2407A-D917-43B3-864B-1F6C0C511AEE}" type="pres">
      <dgm:prSet presAssocID="{AC6EDB4F-6D12-4B47-8F72-10D0F843B1C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CF728719-E1B6-472C-B464-411FFACEC833}" srcId="{9AF794AF-FFE7-4782-8749-49890F873679}" destId="{68775ECC-F1AC-4132-ACCA-2EF34E1CB0AA}" srcOrd="0" destOrd="0" parTransId="{ABBFBAAD-51D2-4F84-9286-6451ACD856D0}" sibTransId="{595A2EC1-6FEA-4A95-A5BC-FB5AE6D1728B}"/>
    <dgm:cxn modelId="{7146361C-86C9-4940-936E-EF55F0E76AF3}" type="presOf" srcId="{3C12CCA0-A672-41C4-8C26-1D466FEFAC20}" destId="{9A9508A6-1FC7-4925-83E6-BF704F08BE80}" srcOrd="0" destOrd="2" presId="urn:microsoft.com/office/officeart/2005/8/layout/vList2"/>
    <dgm:cxn modelId="{65ED2337-E52D-493C-8187-2DED035C4E46}" type="presOf" srcId="{0AC45DA4-A6CC-47FA-B1B5-04DC555C04B1}" destId="{9A9508A6-1FC7-4925-83E6-BF704F08BE80}" srcOrd="0" destOrd="4" presId="urn:microsoft.com/office/officeart/2005/8/layout/vList2"/>
    <dgm:cxn modelId="{C73E663D-0FBC-499F-9E18-7E725E6F0DEB}" type="presOf" srcId="{CEE3E9E9-AD5C-4E6B-89F9-71F7A8E3366A}" destId="{10F2407A-D917-43B3-864B-1F6C0C511AEE}" srcOrd="0" destOrd="1" presId="urn:microsoft.com/office/officeart/2005/8/layout/vList2"/>
    <dgm:cxn modelId="{33E72563-C0E5-4D7E-A05C-3A1D7C2E400C}" srcId="{3D51F360-01E0-49B3-993E-1129CE2675CC}" destId="{9AF794AF-FFE7-4782-8749-49890F873679}" srcOrd="0" destOrd="0" parTransId="{25DEA9D8-1886-459D-8FB1-F2996FAA217D}" sibTransId="{6E29C73B-3BD9-42F7-8BEA-7AC85735B2A4}"/>
    <dgm:cxn modelId="{4E95764A-014B-44AF-9F39-5240B637EE84}" type="presOf" srcId="{3D51F360-01E0-49B3-993E-1129CE2675CC}" destId="{CE7A2278-8839-4F1D-9FFE-4E83C42364AE}" srcOrd="0" destOrd="0" presId="urn:microsoft.com/office/officeart/2005/8/layout/vList2"/>
    <dgm:cxn modelId="{2AF3826C-6ED0-4F9F-B59F-9531DCADC566}" type="presOf" srcId="{9AF794AF-FFE7-4782-8749-49890F873679}" destId="{A48FA487-F9E8-4FDA-A2C5-6BB3848735ED}" srcOrd="0" destOrd="0" presId="urn:microsoft.com/office/officeart/2005/8/layout/vList2"/>
    <dgm:cxn modelId="{37CB3B53-C824-449E-825B-A5FC49ED7CFD}" srcId="{AC6EDB4F-6D12-4B47-8F72-10D0F843B1C9}" destId="{76150587-BE6F-4467-880B-28E3955867AB}" srcOrd="0" destOrd="0" parTransId="{249B8D4E-D223-4258-9397-94E7A4060191}" sibTransId="{24C2F42E-AF4E-4FDF-AB4D-881B4D31D69D}"/>
    <dgm:cxn modelId="{DDC5477A-A27A-4F3C-9E28-BA59A8F2C06F}" srcId="{9AF794AF-FFE7-4782-8749-49890F873679}" destId="{762F8751-A814-41E0-A132-B4BF5FD3A859}" srcOrd="3" destOrd="0" parTransId="{CC3D669B-D919-4592-B190-8B9307CD8AAF}" sibTransId="{EB9A25ED-F782-45DE-88A0-2AF16686F24C}"/>
    <dgm:cxn modelId="{6A9F457C-6062-4771-92C9-A83AD1A5C886}" type="presOf" srcId="{68775ECC-F1AC-4132-ACCA-2EF34E1CB0AA}" destId="{9A9508A6-1FC7-4925-83E6-BF704F08BE80}" srcOrd="0" destOrd="0" presId="urn:microsoft.com/office/officeart/2005/8/layout/vList2"/>
    <dgm:cxn modelId="{5C65368B-47D7-4078-95C8-D5081865713A}" srcId="{9AF794AF-FFE7-4782-8749-49890F873679}" destId="{3C12CCA0-A672-41C4-8C26-1D466FEFAC20}" srcOrd="2" destOrd="0" parTransId="{50FBF955-8BAE-488F-B31B-D2B13EB39ED5}" sibTransId="{577B8D85-CE1A-4B96-8EFB-C83673D2ED26}"/>
    <dgm:cxn modelId="{F1877590-4D99-4999-B8AE-5087C374A495}" srcId="{9AF794AF-FFE7-4782-8749-49890F873679}" destId="{0AC45DA4-A6CC-47FA-B1B5-04DC555C04B1}" srcOrd="4" destOrd="0" parTransId="{C81B29BB-D63B-4538-910A-55583E1557D2}" sibTransId="{42BCCCFD-6C4A-4DDB-9110-E91F0DA176E3}"/>
    <dgm:cxn modelId="{FDCB9097-19F0-4593-AC91-CD189EA9C030}" type="presOf" srcId="{762F8751-A814-41E0-A132-B4BF5FD3A859}" destId="{9A9508A6-1FC7-4925-83E6-BF704F08BE80}" srcOrd="0" destOrd="3" presId="urn:microsoft.com/office/officeart/2005/8/layout/vList2"/>
    <dgm:cxn modelId="{6986CBA5-354B-4906-96E7-71BFA8D9119F}" srcId="{AC6EDB4F-6D12-4B47-8F72-10D0F843B1C9}" destId="{CEE3E9E9-AD5C-4E6B-89F9-71F7A8E3366A}" srcOrd="1" destOrd="0" parTransId="{77589B17-5C3D-4201-929A-359BF29BD2A6}" sibTransId="{7BE87935-E077-445E-AC1C-3EB6DC298FB1}"/>
    <dgm:cxn modelId="{3FCB3ABF-8738-4A21-BB26-A2F67A7A82D8}" srcId="{9AF794AF-FFE7-4782-8749-49890F873679}" destId="{04338626-B56D-493A-927C-7959A50235FA}" srcOrd="1" destOrd="0" parTransId="{06124C13-D2EC-4D6D-9CD2-42973A01B33B}" sibTransId="{FA438FDC-9D3F-4B00-90F5-C07C41483021}"/>
    <dgm:cxn modelId="{EBC0E3C1-5BC1-46E7-AB56-FF1088F25480}" type="presOf" srcId="{AC6EDB4F-6D12-4B47-8F72-10D0F843B1C9}" destId="{25F23282-9982-48D7-8FEA-4328924735F0}" srcOrd="0" destOrd="0" presId="urn:microsoft.com/office/officeart/2005/8/layout/vList2"/>
    <dgm:cxn modelId="{C471B4CC-A9F1-4A25-8D62-3E0918CFC240}" type="presOf" srcId="{76150587-BE6F-4467-880B-28E3955867AB}" destId="{10F2407A-D917-43B3-864B-1F6C0C511AEE}" srcOrd="0" destOrd="0" presId="urn:microsoft.com/office/officeart/2005/8/layout/vList2"/>
    <dgm:cxn modelId="{22EB87F8-3499-4A9F-8D9D-919589E068E9}" srcId="{3D51F360-01E0-49B3-993E-1129CE2675CC}" destId="{AC6EDB4F-6D12-4B47-8F72-10D0F843B1C9}" srcOrd="1" destOrd="0" parTransId="{90D6F4E3-A18A-4961-8198-54EA6E63A6CA}" sibTransId="{9FCE3C8A-9B6C-4B23-8CF7-788D06E3F9F5}"/>
    <dgm:cxn modelId="{7DE629FA-7EB8-473E-A843-A23BCA1588D1}" type="presOf" srcId="{04338626-B56D-493A-927C-7959A50235FA}" destId="{9A9508A6-1FC7-4925-83E6-BF704F08BE80}" srcOrd="0" destOrd="1" presId="urn:microsoft.com/office/officeart/2005/8/layout/vList2"/>
    <dgm:cxn modelId="{6DC9C4E5-EE5F-4513-8F4D-B702C8FE9EEF}" type="presParOf" srcId="{CE7A2278-8839-4F1D-9FFE-4E83C42364AE}" destId="{A48FA487-F9E8-4FDA-A2C5-6BB3848735ED}" srcOrd="0" destOrd="0" presId="urn:microsoft.com/office/officeart/2005/8/layout/vList2"/>
    <dgm:cxn modelId="{9F507994-81A3-4423-992F-D749230AEA2A}" type="presParOf" srcId="{CE7A2278-8839-4F1D-9FFE-4E83C42364AE}" destId="{9A9508A6-1FC7-4925-83E6-BF704F08BE80}" srcOrd="1" destOrd="0" presId="urn:microsoft.com/office/officeart/2005/8/layout/vList2"/>
    <dgm:cxn modelId="{BDBDD358-8227-4092-A020-9074A44D43B7}" type="presParOf" srcId="{CE7A2278-8839-4F1D-9FFE-4E83C42364AE}" destId="{25F23282-9982-48D7-8FEA-4328924735F0}" srcOrd="2" destOrd="0" presId="urn:microsoft.com/office/officeart/2005/8/layout/vList2"/>
    <dgm:cxn modelId="{31AA48C5-3C12-49BF-B0EB-FEA078316750}" type="presParOf" srcId="{CE7A2278-8839-4F1D-9FFE-4E83C42364AE}" destId="{10F2407A-D917-43B3-864B-1F6C0C511AE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51F360-01E0-49B3-993E-1129CE2675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F794AF-FFE7-4782-8749-49890F873679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en-US" b="1" dirty="0">
              <a:latin typeface="Aptos"/>
            </a:rPr>
            <a:t>Top 5 Goals per 90 (Full Season):</a:t>
          </a:r>
          <a:endParaRPr lang="en-US" dirty="0">
            <a:latin typeface="Aptos"/>
          </a:endParaRPr>
        </a:p>
      </dgm:t>
    </dgm:pt>
    <dgm:pt modelId="{25DEA9D8-1886-459D-8FB1-F2996FAA217D}" type="parTrans" cxnId="{33E72563-C0E5-4D7E-A05C-3A1D7C2E400C}">
      <dgm:prSet/>
      <dgm:spPr/>
      <dgm:t>
        <a:bodyPr/>
        <a:lstStyle/>
        <a:p>
          <a:endParaRPr lang="en-US"/>
        </a:p>
      </dgm:t>
    </dgm:pt>
    <dgm:pt modelId="{6E29C73B-3BD9-42F7-8BEA-7AC85735B2A4}" type="sibTrans" cxnId="{33E72563-C0E5-4D7E-A05C-3A1D7C2E400C}">
      <dgm:prSet/>
      <dgm:spPr/>
      <dgm:t>
        <a:bodyPr/>
        <a:lstStyle/>
        <a:p>
          <a:endParaRPr lang="en-US"/>
        </a:p>
      </dgm:t>
    </dgm:pt>
    <dgm:pt modelId="{68775ECC-F1AC-4132-ACCA-2EF34E1CB0A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1" dirty="0">
              <a:latin typeface="Aptos"/>
            </a:rPr>
            <a:t>Evan Howard</a:t>
          </a:r>
          <a:r>
            <a:rPr lang="en-US" sz="1400" b="0" dirty="0">
              <a:latin typeface="Aptos"/>
            </a:rPr>
            <a:t> – 1.94 </a:t>
          </a:r>
          <a:r>
            <a:rPr lang="en-US" sz="1400" b="0" i="1" dirty="0">
              <a:latin typeface="Aptos"/>
            </a:rPr>
            <a:t>(</a:t>
          </a:r>
          <a:r>
            <a:rPr lang="en-US" sz="1400" i="1" dirty="0">
              <a:latin typeface="Aptos"/>
            </a:rPr>
            <a:t>late-season breakout</a:t>
          </a:r>
          <a:r>
            <a:rPr lang="en-US" sz="1400" b="0" i="1" dirty="0">
              <a:latin typeface="Aptos"/>
            </a:rPr>
            <a:t>)</a:t>
          </a:r>
        </a:p>
      </dgm:t>
    </dgm:pt>
    <dgm:pt modelId="{ABBFBAAD-51D2-4F84-9286-6451ACD856D0}" type="parTrans" cxnId="{CF728719-E1B6-472C-B464-411FFACEC833}">
      <dgm:prSet/>
      <dgm:spPr/>
      <dgm:t>
        <a:bodyPr/>
        <a:lstStyle/>
        <a:p>
          <a:endParaRPr lang="en-US"/>
        </a:p>
      </dgm:t>
    </dgm:pt>
    <dgm:pt modelId="{595A2EC1-6FEA-4A95-A5BC-FB5AE6D1728B}" type="sibTrans" cxnId="{CF728719-E1B6-472C-B464-411FFACEC833}">
      <dgm:prSet/>
      <dgm:spPr/>
      <dgm:t>
        <a:bodyPr/>
        <a:lstStyle/>
        <a:p>
          <a:endParaRPr lang="en-US"/>
        </a:p>
      </dgm:t>
    </dgm:pt>
    <dgm:pt modelId="{04338626-B56D-493A-927C-7959A50235F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dirty="0">
              <a:latin typeface="Aptos"/>
            </a:rPr>
            <a:t>Sean Battistessa – 1.34</a:t>
          </a:r>
        </a:p>
      </dgm:t>
    </dgm:pt>
    <dgm:pt modelId="{06124C13-D2EC-4D6D-9CD2-42973A01B33B}" type="parTrans" cxnId="{3FCB3ABF-8738-4A21-BB26-A2F67A7A82D8}">
      <dgm:prSet/>
      <dgm:spPr/>
      <dgm:t>
        <a:bodyPr/>
        <a:lstStyle/>
        <a:p>
          <a:endParaRPr lang="en-US"/>
        </a:p>
      </dgm:t>
    </dgm:pt>
    <dgm:pt modelId="{FA438FDC-9D3F-4B00-90F5-C07C41483021}" type="sibTrans" cxnId="{3FCB3ABF-8738-4A21-BB26-A2F67A7A82D8}">
      <dgm:prSet/>
      <dgm:spPr/>
      <dgm:t>
        <a:bodyPr/>
        <a:lstStyle/>
        <a:p>
          <a:endParaRPr lang="en-US"/>
        </a:p>
      </dgm:t>
    </dgm:pt>
    <dgm:pt modelId="{3C12CCA0-A672-41C4-8C26-1D466FEFAC20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dirty="0">
              <a:latin typeface="Aptos"/>
            </a:rPr>
            <a:t>Zac Giles – </a:t>
          </a:r>
          <a:r>
            <a:rPr lang="en-US" sz="1400" b="0" dirty="0">
              <a:latin typeface="Aptos"/>
            </a:rPr>
            <a:t>1.30</a:t>
          </a:r>
          <a:endParaRPr lang="en-US" sz="1400" dirty="0">
            <a:latin typeface="Aptos"/>
          </a:endParaRPr>
        </a:p>
      </dgm:t>
    </dgm:pt>
    <dgm:pt modelId="{50FBF955-8BAE-488F-B31B-D2B13EB39ED5}" type="parTrans" cxnId="{5C65368B-47D7-4078-95C8-D5081865713A}">
      <dgm:prSet/>
      <dgm:spPr/>
      <dgm:t>
        <a:bodyPr/>
        <a:lstStyle/>
        <a:p>
          <a:endParaRPr lang="en-US"/>
        </a:p>
      </dgm:t>
    </dgm:pt>
    <dgm:pt modelId="{577B8D85-CE1A-4B96-8EFB-C83673D2ED26}" type="sibTrans" cxnId="{5C65368B-47D7-4078-95C8-D5081865713A}">
      <dgm:prSet/>
      <dgm:spPr/>
      <dgm:t>
        <a:bodyPr/>
        <a:lstStyle/>
        <a:p>
          <a:endParaRPr lang="en-US"/>
        </a:p>
      </dgm:t>
    </dgm:pt>
    <dgm:pt modelId="{AC6EDB4F-6D12-4B47-8F72-10D0F843B1C9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b="1" dirty="0">
              <a:latin typeface="Aptos"/>
            </a:rPr>
            <a:t>Key Change:</a:t>
          </a:r>
          <a:endParaRPr lang="en-US" dirty="0">
            <a:latin typeface="Aptos"/>
          </a:endParaRPr>
        </a:p>
      </dgm:t>
    </dgm:pt>
    <dgm:pt modelId="{90D6F4E3-A18A-4961-8198-54EA6E63A6CA}" type="parTrans" cxnId="{22EB87F8-3499-4A9F-8D9D-919589E068E9}">
      <dgm:prSet/>
      <dgm:spPr/>
      <dgm:t>
        <a:bodyPr/>
        <a:lstStyle/>
        <a:p>
          <a:endParaRPr lang="en-US"/>
        </a:p>
      </dgm:t>
    </dgm:pt>
    <dgm:pt modelId="{9FCE3C8A-9B6C-4B23-8CF7-788D06E3F9F5}" type="sibTrans" cxnId="{22EB87F8-3499-4A9F-8D9D-919589E068E9}">
      <dgm:prSet/>
      <dgm:spPr/>
      <dgm:t>
        <a:bodyPr/>
        <a:lstStyle/>
        <a:p>
          <a:endParaRPr lang="en-US"/>
        </a:p>
      </dgm:t>
    </dgm:pt>
    <dgm:pt modelId="{76150587-BE6F-4467-880B-28E3955867AB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1" dirty="0">
              <a:latin typeface="Aptos"/>
            </a:rPr>
            <a:t>Howard surged</a:t>
          </a:r>
          <a:r>
            <a:rPr lang="en-US" sz="1400" dirty="0">
              <a:latin typeface="Aptos"/>
            </a:rPr>
            <a:t> </a:t>
          </a:r>
          <a:r>
            <a:rPr lang="en-US" sz="1400" b="0" dirty="0">
              <a:latin typeface="Aptos"/>
            </a:rPr>
            <a:t>to the top </a:t>
          </a:r>
          <a:r>
            <a:rPr lang="en-US" sz="1400" dirty="0">
              <a:latin typeface="Aptos"/>
            </a:rPr>
            <a:t>late-season.</a:t>
          </a:r>
        </a:p>
      </dgm:t>
    </dgm:pt>
    <dgm:pt modelId="{249B8D4E-D223-4258-9397-94E7A4060191}" type="parTrans" cxnId="{37CB3B53-C824-449E-825B-A5FC49ED7CFD}">
      <dgm:prSet/>
      <dgm:spPr/>
      <dgm:t>
        <a:bodyPr/>
        <a:lstStyle/>
        <a:p>
          <a:endParaRPr lang="en-US"/>
        </a:p>
      </dgm:t>
    </dgm:pt>
    <dgm:pt modelId="{24C2F42E-AF4E-4FDF-AB4D-881B4D31D69D}" type="sibTrans" cxnId="{37CB3B53-C824-449E-825B-A5FC49ED7CFD}">
      <dgm:prSet/>
      <dgm:spPr/>
      <dgm:t>
        <a:bodyPr/>
        <a:lstStyle/>
        <a:p>
          <a:endParaRPr lang="en-US"/>
        </a:p>
      </dgm:t>
    </dgm:pt>
    <dgm:pt modelId="{CEE3E9E9-AD5C-4E6B-89F9-71F7A8E3366A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en-US" sz="1400" b="1" dirty="0">
              <a:latin typeface="Aptos"/>
            </a:rPr>
            <a:t>Mahoney (mid-season leader)</a:t>
          </a:r>
          <a:r>
            <a:rPr lang="en-US" sz="1400" dirty="0">
              <a:latin typeface="Aptos"/>
            </a:rPr>
            <a:t> fell out of the</a:t>
          </a:r>
          <a:r>
            <a:rPr lang="en-US" sz="1400" b="0" dirty="0">
              <a:latin typeface="Aptos"/>
            </a:rPr>
            <a:t> top 10 →trend shift</a:t>
          </a:r>
          <a:r>
            <a:rPr lang="en-US" sz="1400" dirty="0">
              <a:latin typeface="Aptos"/>
            </a:rPr>
            <a:t>.</a:t>
          </a:r>
        </a:p>
      </dgm:t>
    </dgm:pt>
    <dgm:pt modelId="{77589B17-5C3D-4201-929A-359BF29BD2A6}" type="parTrans" cxnId="{6986CBA5-354B-4906-96E7-71BFA8D9119F}">
      <dgm:prSet/>
      <dgm:spPr/>
      <dgm:t>
        <a:bodyPr/>
        <a:lstStyle/>
        <a:p>
          <a:endParaRPr lang="en-US"/>
        </a:p>
      </dgm:t>
    </dgm:pt>
    <dgm:pt modelId="{7BE87935-E077-445E-AC1C-3EB6DC298FB1}" type="sibTrans" cxnId="{6986CBA5-354B-4906-96E7-71BFA8D9119F}">
      <dgm:prSet/>
      <dgm:spPr/>
      <dgm:t>
        <a:bodyPr/>
        <a:lstStyle/>
        <a:p>
          <a:endParaRPr lang="en-US"/>
        </a:p>
      </dgm:t>
    </dgm:pt>
    <dgm:pt modelId="{9B23887C-3BDC-4AE7-8927-F421154E0D0F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400" dirty="0">
              <a:latin typeface="Aptos"/>
            </a:rPr>
            <a:t>Gage Lyons – 1.45</a:t>
          </a:r>
        </a:p>
      </dgm:t>
    </dgm:pt>
    <dgm:pt modelId="{A226940D-3B25-488A-A59C-D7C369099384}" type="parTrans" cxnId="{87CC43C8-79F6-410E-A26C-143B5DC11161}">
      <dgm:prSet/>
      <dgm:spPr/>
    </dgm:pt>
    <dgm:pt modelId="{EFB91858-EA72-43D4-BA5F-9AFA81A1394F}" type="sibTrans" cxnId="{87CC43C8-79F6-410E-A26C-143B5DC11161}">
      <dgm:prSet/>
      <dgm:spPr/>
    </dgm:pt>
    <dgm:pt modelId="{39114F81-0CAD-49E1-A481-EB8FBB4A183C}">
      <dgm:prSet phldr="0"/>
      <dgm:spPr/>
      <dgm:t>
        <a:bodyPr/>
        <a:lstStyle/>
        <a:p>
          <a:pPr algn="l">
            <a:lnSpc>
              <a:spcPct val="90000"/>
            </a:lnSpc>
          </a:pPr>
          <a:r>
            <a:rPr lang="en-US" sz="1400" dirty="0">
              <a:latin typeface="Aptos"/>
            </a:rPr>
            <a:t>Jesse Wangusi – 1.39</a:t>
          </a:r>
        </a:p>
      </dgm:t>
    </dgm:pt>
    <dgm:pt modelId="{ED85D87D-F1A1-44B0-ABAB-2CF61C2A3288}" type="parTrans" cxnId="{80BFDF83-6AF6-40F0-A50E-6D23F371D6BC}">
      <dgm:prSet/>
      <dgm:spPr/>
    </dgm:pt>
    <dgm:pt modelId="{EE024131-738B-4447-A0BC-9CCB87572AF7}" type="sibTrans" cxnId="{80BFDF83-6AF6-40F0-A50E-6D23F371D6BC}">
      <dgm:prSet/>
      <dgm:spPr/>
    </dgm:pt>
    <dgm:pt modelId="{CE7A2278-8839-4F1D-9FFE-4E83C42364AE}" type="pres">
      <dgm:prSet presAssocID="{3D51F360-01E0-49B3-993E-1129CE2675CC}" presName="linear" presStyleCnt="0">
        <dgm:presLayoutVars>
          <dgm:animLvl val="lvl"/>
          <dgm:resizeHandles val="exact"/>
        </dgm:presLayoutVars>
      </dgm:prSet>
      <dgm:spPr/>
    </dgm:pt>
    <dgm:pt modelId="{A48FA487-F9E8-4FDA-A2C5-6BB3848735ED}" type="pres">
      <dgm:prSet presAssocID="{9AF794AF-FFE7-4782-8749-49890F87367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A9508A6-1FC7-4925-83E6-BF704F08BE80}" type="pres">
      <dgm:prSet presAssocID="{9AF794AF-FFE7-4782-8749-49890F873679}" presName="childText" presStyleLbl="revTx" presStyleIdx="0" presStyleCnt="2">
        <dgm:presLayoutVars>
          <dgm:bulletEnabled val="1"/>
        </dgm:presLayoutVars>
      </dgm:prSet>
      <dgm:spPr/>
    </dgm:pt>
    <dgm:pt modelId="{25F23282-9982-48D7-8FEA-4328924735F0}" type="pres">
      <dgm:prSet presAssocID="{AC6EDB4F-6D12-4B47-8F72-10D0F843B1C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0F2407A-D917-43B3-864B-1F6C0C511AEE}" type="pres">
      <dgm:prSet presAssocID="{AC6EDB4F-6D12-4B47-8F72-10D0F843B1C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8863908-A3EE-4B60-BD59-FE446468268F}" type="presOf" srcId="{3C12CCA0-A672-41C4-8C26-1D466FEFAC20}" destId="{9A9508A6-1FC7-4925-83E6-BF704F08BE80}" srcOrd="0" destOrd="4" presId="urn:microsoft.com/office/officeart/2005/8/layout/vList2"/>
    <dgm:cxn modelId="{B9749210-87B9-44B5-ACC2-DDA335E62C9B}" type="presOf" srcId="{AC6EDB4F-6D12-4B47-8F72-10D0F843B1C9}" destId="{25F23282-9982-48D7-8FEA-4328924735F0}" srcOrd="0" destOrd="0" presId="urn:microsoft.com/office/officeart/2005/8/layout/vList2"/>
    <dgm:cxn modelId="{CF728719-E1B6-472C-B464-411FFACEC833}" srcId="{9AF794AF-FFE7-4782-8749-49890F873679}" destId="{68775ECC-F1AC-4132-ACCA-2EF34E1CB0AA}" srcOrd="0" destOrd="0" parTransId="{ABBFBAAD-51D2-4F84-9286-6451ACD856D0}" sibTransId="{595A2EC1-6FEA-4A95-A5BC-FB5AE6D1728B}"/>
    <dgm:cxn modelId="{1FA43F5B-2567-466B-8B1B-069DF96F6DB7}" type="presOf" srcId="{68775ECC-F1AC-4132-ACCA-2EF34E1CB0AA}" destId="{9A9508A6-1FC7-4925-83E6-BF704F08BE80}" srcOrd="0" destOrd="0" presId="urn:microsoft.com/office/officeart/2005/8/layout/vList2"/>
    <dgm:cxn modelId="{33E72563-C0E5-4D7E-A05C-3A1D7C2E400C}" srcId="{3D51F360-01E0-49B3-993E-1129CE2675CC}" destId="{9AF794AF-FFE7-4782-8749-49890F873679}" srcOrd="0" destOrd="0" parTransId="{25DEA9D8-1886-459D-8FB1-F2996FAA217D}" sibTransId="{6E29C73B-3BD9-42F7-8BEA-7AC85735B2A4}"/>
    <dgm:cxn modelId="{9C00B963-56EA-4B2C-B726-8824029103A7}" type="presOf" srcId="{9AF794AF-FFE7-4782-8749-49890F873679}" destId="{A48FA487-F9E8-4FDA-A2C5-6BB3848735ED}" srcOrd="0" destOrd="0" presId="urn:microsoft.com/office/officeart/2005/8/layout/vList2"/>
    <dgm:cxn modelId="{4E95764A-014B-44AF-9F39-5240B637EE84}" type="presOf" srcId="{3D51F360-01E0-49B3-993E-1129CE2675CC}" destId="{CE7A2278-8839-4F1D-9FFE-4E83C42364AE}" srcOrd="0" destOrd="0" presId="urn:microsoft.com/office/officeart/2005/8/layout/vList2"/>
    <dgm:cxn modelId="{37CB3B53-C824-449E-825B-A5FC49ED7CFD}" srcId="{AC6EDB4F-6D12-4B47-8F72-10D0F843B1C9}" destId="{76150587-BE6F-4467-880B-28E3955867AB}" srcOrd="0" destOrd="0" parTransId="{249B8D4E-D223-4258-9397-94E7A4060191}" sibTransId="{24C2F42E-AF4E-4FDF-AB4D-881B4D31D69D}"/>
    <dgm:cxn modelId="{C41D0277-CC69-47FD-8E69-B4B5D9453BDE}" type="presOf" srcId="{04338626-B56D-493A-927C-7959A50235FA}" destId="{9A9508A6-1FC7-4925-83E6-BF704F08BE80}" srcOrd="0" destOrd="3" presId="urn:microsoft.com/office/officeart/2005/8/layout/vList2"/>
    <dgm:cxn modelId="{CFDE407A-316B-4A46-A474-A977FA7745AF}" type="presOf" srcId="{76150587-BE6F-4467-880B-28E3955867AB}" destId="{10F2407A-D917-43B3-864B-1F6C0C511AEE}" srcOrd="0" destOrd="0" presId="urn:microsoft.com/office/officeart/2005/8/layout/vList2"/>
    <dgm:cxn modelId="{80BFDF83-6AF6-40F0-A50E-6D23F371D6BC}" srcId="{9AF794AF-FFE7-4782-8749-49890F873679}" destId="{39114F81-0CAD-49E1-A481-EB8FBB4A183C}" srcOrd="2" destOrd="0" parTransId="{ED85D87D-F1A1-44B0-ABAB-2CF61C2A3288}" sibTransId="{EE024131-738B-4447-A0BC-9CCB87572AF7}"/>
    <dgm:cxn modelId="{5C65368B-47D7-4078-95C8-D5081865713A}" srcId="{9AF794AF-FFE7-4782-8749-49890F873679}" destId="{3C12CCA0-A672-41C4-8C26-1D466FEFAC20}" srcOrd="4" destOrd="0" parTransId="{50FBF955-8BAE-488F-B31B-D2B13EB39ED5}" sibTransId="{577B8D85-CE1A-4B96-8EFB-C83673D2ED26}"/>
    <dgm:cxn modelId="{6986CBA5-354B-4906-96E7-71BFA8D9119F}" srcId="{AC6EDB4F-6D12-4B47-8F72-10D0F843B1C9}" destId="{CEE3E9E9-AD5C-4E6B-89F9-71F7A8E3366A}" srcOrd="1" destOrd="0" parTransId="{77589B17-5C3D-4201-929A-359BF29BD2A6}" sibTransId="{7BE87935-E077-445E-AC1C-3EB6DC298FB1}"/>
    <dgm:cxn modelId="{917595B4-FD53-4A29-94AC-85F0108204C1}" type="presOf" srcId="{9B23887C-3BDC-4AE7-8927-F421154E0D0F}" destId="{9A9508A6-1FC7-4925-83E6-BF704F08BE80}" srcOrd="0" destOrd="1" presId="urn:microsoft.com/office/officeart/2005/8/layout/vList2"/>
    <dgm:cxn modelId="{3FCB3ABF-8738-4A21-BB26-A2F67A7A82D8}" srcId="{9AF794AF-FFE7-4782-8749-49890F873679}" destId="{04338626-B56D-493A-927C-7959A50235FA}" srcOrd="3" destOrd="0" parTransId="{06124C13-D2EC-4D6D-9CD2-42973A01B33B}" sibTransId="{FA438FDC-9D3F-4B00-90F5-C07C41483021}"/>
    <dgm:cxn modelId="{87CC43C8-79F6-410E-A26C-143B5DC11161}" srcId="{9AF794AF-FFE7-4782-8749-49890F873679}" destId="{9B23887C-3BDC-4AE7-8927-F421154E0D0F}" srcOrd="1" destOrd="0" parTransId="{A226940D-3B25-488A-A59C-D7C369099384}" sibTransId="{EFB91858-EA72-43D4-BA5F-9AFA81A1394F}"/>
    <dgm:cxn modelId="{B4CFEEDE-760C-46A7-8345-550E04ACD815}" type="presOf" srcId="{CEE3E9E9-AD5C-4E6B-89F9-71F7A8E3366A}" destId="{10F2407A-D917-43B3-864B-1F6C0C511AEE}" srcOrd="0" destOrd="1" presId="urn:microsoft.com/office/officeart/2005/8/layout/vList2"/>
    <dgm:cxn modelId="{22EB87F8-3499-4A9F-8D9D-919589E068E9}" srcId="{3D51F360-01E0-49B3-993E-1129CE2675CC}" destId="{AC6EDB4F-6D12-4B47-8F72-10D0F843B1C9}" srcOrd="1" destOrd="0" parTransId="{90D6F4E3-A18A-4961-8198-54EA6E63A6CA}" sibTransId="{9FCE3C8A-9B6C-4B23-8CF7-788D06E3F9F5}"/>
    <dgm:cxn modelId="{731091FF-955D-4DB8-84DD-EC380430D3B9}" type="presOf" srcId="{39114F81-0CAD-49E1-A481-EB8FBB4A183C}" destId="{9A9508A6-1FC7-4925-83E6-BF704F08BE80}" srcOrd="0" destOrd="2" presId="urn:microsoft.com/office/officeart/2005/8/layout/vList2"/>
    <dgm:cxn modelId="{A6D7179B-78A9-4B21-B592-F0A3EDE986D2}" type="presParOf" srcId="{CE7A2278-8839-4F1D-9FFE-4E83C42364AE}" destId="{A48FA487-F9E8-4FDA-A2C5-6BB3848735ED}" srcOrd="0" destOrd="0" presId="urn:microsoft.com/office/officeart/2005/8/layout/vList2"/>
    <dgm:cxn modelId="{910CF069-27BB-4272-8430-98939838EB57}" type="presParOf" srcId="{CE7A2278-8839-4F1D-9FFE-4E83C42364AE}" destId="{9A9508A6-1FC7-4925-83E6-BF704F08BE80}" srcOrd="1" destOrd="0" presId="urn:microsoft.com/office/officeart/2005/8/layout/vList2"/>
    <dgm:cxn modelId="{E1C00CEC-8924-448E-8F3D-94EEC9A0291D}" type="presParOf" srcId="{CE7A2278-8839-4F1D-9FFE-4E83C42364AE}" destId="{25F23282-9982-48D7-8FEA-4328924735F0}" srcOrd="2" destOrd="0" presId="urn:microsoft.com/office/officeart/2005/8/layout/vList2"/>
    <dgm:cxn modelId="{45D65D14-3A9B-431D-8AB8-F91C704C86D8}" type="presParOf" srcId="{CE7A2278-8839-4F1D-9FFE-4E83C42364AE}" destId="{10F2407A-D917-43B3-864B-1F6C0C511AE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FA487-F9E8-4FDA-A2C5-6BB3848735ED}">
      <dsp:nvSpPr>
        <dsp:cNvPr id="0" name=""/>
        <dsp:cNvSpPr/>
      </dsp:nvSpPr>
      <dsp:spPr>
        <a:xfrm>
          <a:off x="0" y="70856"/>
          <a:ext cx="1132760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Top 5 Goals per 90 (Mid-Season):</a:t>
          </a:r>
          <a:endParaRPr lang="en-US" sz="1900" kern="1200"/>
        </a:p>
      </dsp:txBody>
      <dsp:txXfrm>
        <a:off x="22246" y="93102"/>
        <a:ext cx="11283113" cy="411223"/>
      </dsp:txXfrm>
    </dsp:sp>
    <dsp:sp modelId="{9A9508A6-1FC7-4925-83E6-BF704F08BE80}">
      <dsp:nvSpPr>
        <dsp:cNvPr id="0" name=""/>
        <dsp:cNvSpPr/>
      </dsp:nvSpPr>
      <dsp:spPr>
        <a:xfrm>
          <a:off x="0" y="526571"/>
          <a:ext cx="11327605" cy="129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65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kern="1200"/>
            <a:t>Quinn Mahoney (San Juan SC)</a:t>
          </a:r>
          <a:r>
            <a:rPr lang="en-US" sz="1500" kern="1200"/>
            <a:t> – 1.57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Sean Battistessa – 1.35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Zac Giles – 1.31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Carlos Zambrano – 1.20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Tommy Robertson – 1.15</a:t>
          </a:r>
        </a:p>
      </dsp:txBody>
      <dsp:txXfrm>
        <a:off x="0" y="526571"/>
        <a:ext cx="11327605" cy="1297889"/>
      </dsp:txXfrm>
    </dsp:sp>
    <dsp:sp modelId="{25F23282-9982-48D7-8FEA-4328924735F0}">
      <dsp:nvSpPr>
        <dsp:cNvPr id="0" name=""/>
        <dsp:cNvSpPr/>
      </dsp:nvSpPr>
      <dsp:spPr>
        <a:xfrm>
          <a:off x="0" y="1824460"/>
          <a:ext cx="11327605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Insight:</a:t>
          </a:r>
          <a:endParaRPr lang="en-US" sz="1900" kern="1200"/>
        </a:p>
      </dsp:txBody>
      <dsp:txXfrm>
        <a:off x="22246" y="1846706"/>
        <a:ext cx="11283113" cy="411223"/>
      </dsp:txXfrm>
    </dsp:sp>
    <dsp:sp modelId="{10F2407A-D917-43B3-864B-1F6C0C511AEE}">
      <dsp:nvSpPr>
        <dsp:cNvPr id="0" name=""/>
        <dsp:cNvSpPr/>
      </dsp:nvSpPr>
      <dsp:spPr>
        <a:xfrm>
          <a:off x="0" y="2280175"/>
          <a:ext cx="11327605" cy="511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65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Mahoney emerged as </a:t>
          </a:r>
          <a:r>
            <a:rPr lang="en-US" sz="1500" b="1" kern="1200"/>
            <a:t>early-season leader</a:t>
          </a:r>
          <a:r>
            <a:rPr lang="en-US" sz="1500" kern="1200"/>
            <a:t>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Players on non-top teams (e.g., Zambrano) are </a:t>
          </a:r>
          <a:r>
            <a:rPr lang="en-US" sz="1500" b="1" kern="1200"/>
            <a:t>prime scouting targets</a:t>
          </a:r>
          <a:r>
            <a:rPr lang="en-US" sz="1500" kern="1200"/>
            <a:t>.</a:t>
          </a:r>
        </a:p>
      </dsp:txBody>
      <dsp:txXfrm>
        <a:off x="0" y="2280175"/>
        <a:ext cx="11327605" cy="5112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FA487-F9E8-4FDA-A2C5-6BB3848735ED}">
      <dsp:nvSpPr>
        <dsp:cNvPr id="0" name=""/>
        <dsp:cNvSpPr/>
      </dsp:nvSpPr>
      <dsp:spPr>
        <a:xfrm>
          <a:off x="0" y="54824"/>
          <a:ext cx="11327605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ptos"/>
            </a:rPr>
            <a:t>Top 5 Goals per 90 (Full Season):</a:t>
          </a:r>
          <a:endParaRPr lang="en-US" sz="1900" kern="1200" dirty="0">
            <a:latin typeface="Aptos"/>
          </a:endParaRPr>
        </a:p>
      </dsp:txBody>
      <dsp:txXfrm>
        <a:off x="22789" y="77613"/>
        <a:ext cx="11282027" cy="421252"/>
      </dsp:txXfrm>
    </dsp:sp>
    <dsp:sp modelId="{9A9508A6-1FC7-4925-83E6-BF704F08BE80}">
      <dsp:nvSpPr>
        <dsp:cNvPr id="0" name=""/>
        <dsp:cNvSpPr/>
      </dsp:nvSpPr>
      <dsp:spPr>
        <a:xfrm>
          <a:off x="0" y="521654"/>
          <a:ext cx="11327605" cy="12978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65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kern="1200" dirty="0">
              <a:latin typeface="Aptos"/>
            </a:rPr>
            <a:t>Evan Howard</a:t>
          </a:r>
          <a:r>
            <a:rPr lang="en-US" sz="1500" b="0" kern="1200" dirty="0">
              <a:latin typeface="Aptos"/>
            </a:rPr>
            <a:t> – 1.94 </a:t>
          </a:r>
          <a:r>
            <a:rPr lang="en-US" sz="1500" b="0" i="1" kern="1200" dirty="0">
              <a:latin typeface="Aptos"/>
            </a:rPr>
            <a:t>(</a:t>
          </a:r>
          <a:r>
            <a:rPr lang="en-US" sz="1500" i="1" kern="1200" dirty="0">
              <a:latin typeface="Aptos"/>
            </a:rPr>
            <a:t>late-season breakout</a:t>
          </a:r>
          <a:r>
            <a:rPr lang="en-US" sz="1500" b="0" i="1" kern="1200" dirty="0">
              <a:latin typeface="Aptos"/>
            </a:rPr>
            <a:t>)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>
              <a:latin typeface="Aptos"/>
            </a:rPr>
            <a:t>Gage Lyons – 1.45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>
              <a:latin typeface="Aptos"/>
            </a:rPr>
            <a:t>Jesse Wangusi – 1.39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>
              <a:latin typeface="Aptos"/>
            </a:rPr>
            <a:t>Sean Battistessa – 1.34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>
              <a:latin typeface="Aptos"/>
            </a:rPr>
            <a:t>Zac Giles – </a:t>
          </a:r>
          <a:r>
            <a:rPr lang="en-US" sz="1500" b="0" kern="1200" dirty="0">
              <a:latin typeface="Aptos"/>
            </a:rPr>
            <a:t>1.30</a:t>
          </a:r>
          <a:endParaRPr lang="en-US" sz="1500" kern="1200" dirty="0">
            <a:latin typeface="Aptos"/>
          </a:endParaRPr>
        </a:p>
      </dsp:txBody>
      <dsp:txXfrm>
        <a:off x="0" y="521654"/>
        <a:ext cx="11327605" cy="1297889"/>
      </dsp:txXfrm>
    </dsp:sp>
    <dsp:sp modelId="{25F23282-9982-48D7-8FEA-4328924735F0}">
      <dsp:nvSpPr>
        <dsp:cNvPr id="0" name=""/>
        <dsp:cNvSpPr/>
      </dsp:nvSpPr>
      <dsp:spPr>
        <a:xfrm>
          <a:off x="0" y="1819544"/>
          <a:ext cx="11327605" cy="4668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latin typeface="Aptos"/>
            </a:rPr>
            <a:t>Key Change:</a:t>
          </a:r>
          <a:endParaRPr lang="en-US" sz="1900" kern="1200" dirty="0">
            <a:latin typeface="Aptos"/>
          </a:endParaRPr>
        </a:p>
      </dsp:txBody>
      <dsp:txXfrm>
        <a:off x="22789" y="1842333"/>
        <a:ext cx="11282027" cy="421252"/>
      </dsp:txXfrm>
    </dsp:sp>
    <dsp:sp modelId="{10F2407A-D917-43B3-864B-1F6C0C511AEE}">
      <dsp:nvSpPr>
        <dsp:cNvPr id="0" name=""/>
        <dsp:cNvSpPr/>
      </dsp:nvSpPr>
      <dsp:spPr>
        <a:xfrm>
          <a:off x="0" y="2286374"/>
          <a:ext cx="11327605" cy="5211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9651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kern="1200" dirty="0">
              <a:latin typeface="Aptos"/>
            </a:rPr>
            <a:t>Howard surged</a:t>
          </a:r>
          <a:r>
            <a:rPr lang="en-US" sz="1500" kern="1200" dirty="0">
              <a:latin typeface="Aptos"/>
            </a:rPr>
            <a:t> </a:t>
          </a:r>
          <a:r>
            <a:rPr lang="en-US" sz="1500" b="0" kern="1200" dirty="0">
              <a:latin typeface="Aptos"/>
            </a:rPr>
            <a:t>to the top </a:t>
          </a:r>
          <a:r>
            <a:rPr lang="en-US" sz="1500" kern="1200" dirty="0">
              <a:latin typeface="Aptos"/>
            </a:rPr>
            <a:t>late-season.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kern="1200" dirty="0">
              <a:latin typeface="Aptos"/>
            </a:rPr>
            <a:t>Mahoney (mid-season leader)</a:t>
          </a:r>
          <a:r>
            <a:rPr lang="en-US" sz="1500" kern="1200" dirty="0">
              <a:latin typeface="Aptos"/>
            </a:rPr>
            <a:t> fell out of the</a:t>
          </a:r>
          <a:r>
            <a:rPr lang="en-US" sz="1500" b="0" kern="1200" dirty="0">
              <a:latin typeface="Aptos"/>
            </a:rPr>
            <a:t> top 10 →trend shift</a:t>
          </a:r>
          <a:r>
            <a:rPr lang="en-US" sz="1500" kern="1200" dirty="0">
              <a:latin typeface="Aptos"/>
            </a:rPr>
            <a:t>.</a:t>
          </a:r>
        </a:p>
      </dsp:txBody>
      <dsp:txXfrm>
        <a:off x="0" y="2286374"/>
        <a:ext cx="11327605" cy="521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94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18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269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47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285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573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488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207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803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02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298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9604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3840">
          <p15:clr>
            <a:srgbClr val="F26B43"/>
          </p15:clr>
        </p15:guide>
        <p15:guide id="3" pos="7200">
          <p15:clr>
            <a:srgbClr val="F26B43"/>
          </p15:clr>
        </p15:guide>
        <p15:guide id="4" pos="6720">
          <p15:clr>
            <a:srgbClr val="F26B43"/>
          </p15:clr>
        </p15:guide>
        <p15:guide id="16" pos="480">
          <p15:clr>
            <a:srgbClr val="F26B43"/>
          </p15:clr>
        </p15:guide>
        <p15:guide id="23" orient="horz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USL 2 League Wide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Rohit Thakur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ECF1A-71A0-9089-7F99-900ABD02A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these stats were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1ADFB-8022-DEB7-626B-BB03B50AF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Purpose: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Analyze player &amp; team performance across the 2025 USL League Two season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 Identify </a:t>
            </a:r>
            <a:r>
              <a:rPr lang="en-US" b="1" dirty="0">
                <a:ea typeface="+mn-lt"/>
                <a:cs typeface="+mn-lt"/>
              </a:rPr>
              <a:t>top performers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developmental trends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situational strengths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How this was done: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b="1" dirty="0">
                <a:ea typeface="+mn-lt"/>
                <a:cs typeface="+mn-lt"/>
              </a:rPr>
              <a:t>SQL + Python</a:t>
            </a:r>
            <a:r>
              <a:rPr lang="en-US" dirty="0">
                <a:ea typeface="+mn-lt"/>
                <a:cs typeface="+mn-lt"/>
              </a:rPr>
              <a:t> used to query official league data</a:t>
            </a:r>
            <a:endParaRPr lang="en-US" dirty="0"/>
          </a:p>
          <a:p>
            <a:pPr lvl="1">
              <a:spcBef>
                <a:spcPts val="1000"/>
              </a:spcBef>
              <a:buFont typeface="Arial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 </a:t>
            </a:r>
            <a:r>
              <a:rPr lang="en-US" b="1" dirty="0">
                <a:ea typeface="+mn-lt"/>
                <a:cs typeface="+mn-lt"/>
              </a:rPr>
              <a:t>Filtered by 300+ minutes</a:t>
            </a:r>
            <a:r>
              <a:rPr lang="en-US" dirty="0">
                <a:ea typeface="+mn-lt"/>
                <a:cs typeface="+mn-lt"/>
              </a:rPr>
              <a:t> for meaningful contribution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  Compared </a:t>
            </a:r>
            <a:r>
              <a:rPr lang="en-US" b="1" dirty="0">
                <a:ea typeface="+mn-lt"/>
                <a:cs typeface="+mn-lt"/>
              </a:rPr>
              <a:t>mid-season vs full-season</a:t>
            </a:r>
            <a:r>
              <a:rPr lang="en-US" dirty="0">
                <a:ea typeface="+mn-lt"/>
                <a:cs typeface="+mn-lt"/>
              </a:rPr>
              <a:t> data to track changes over time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8F38D-845C-0905-DE82-3B179CEAE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 will present the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E213D-6D59-8E98-5242-1B0348E76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Data Overview: Two Key Timeframes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This analysis compares two snapshots from the 2025 season:</a:t>
            </a:r>
          </a:p>
          <a:p>
            <a:pPr lvl="1"/>
            <a:r>
              <a:rPr lang="en-US" b="1" dirty="0">
                <a:ea typeface="+mn-lt"/>
                <a:cs typeface="+mn-lt"/>
              </a:rPr>
              <a:t>Mid-Season:</a:t>
            </a:r>
            <a:r>
              <a:rPr lang="en-US" dirty="0">
                <a:ea typeface="+mn-lt"/>
                <a:cs typeface="+mn-lt"/>
              </a:rPr>
              <a:t> Reflects team rhythm and emerging roles.</a:t>
            </a:r>
          </a:p>
          <a:p>
            <a:pPr lvl="1"/>
            <a:r>
              <a:rPr lang="en-US" b="1" dirty="0">
                <a:ea typeface="+mn-lt"/>
                <a:cs typeface="+mn-lt"/>
              </a:rPr>
              <a:t>Latest Update:</a:t>
            </a:r>
            <a:r>
              <a:rPr lang="en-US" dirty="0">
                <a:ea typeface="+mn-lt"/>
                <a:cs typeface="+mn-lt"/>
              </a:rPr>
              <a:t> Captures late-season trends and shifts.</a:t>
            </a:r>
          </a:p>
          <a:p>
            <a:r>
              <a:rPr lang="en-US" b="1" dirty="0">
                <a:ea typeface="+mn-lt"/>
                <a:cs typeface="+mn-lt"/>
              </a:rPr>
              <a:t>Why it matters:</a:t>
            </a:r>
          </a:p>
          <a:p>
            <a:pPr lvl="1"/>
            <a:r>
              <a:rPr lang="en-US" b="1" dirty="0">
                <a:ea typeface="+mn-lt"/>
                <a:cs typeface="+mn-lt"/>
              </a:rPr>
              <a:t>Comparing these datasets reveals progression, validates early trends, and highlights late-season developments.</a:t>
            </a:r>
            <a:endParaRPr lang="en-US"/>
          </a:p>
          <a:p>
            <a:endParaRPr lang="en-US" b="1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17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A3B36-F21C-4679-1B01-33A0FD2C3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Goals and Assists</a:t>
            </a:r>
          </a:p>
        </p:txBody>
      </p:sp>
    </p:spTree>
    <p:extLst>
      <p:ext uri="{BB962C8B-B14F-4D97-AF65-F5344CB8AC3E}">
        <p14:creationId xmlns:p14="http://schemas.microsoft.com/office/powerpoint/2010/main" val="1277095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DADB-ED8C-3377-7E1E-D1425E28F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03504"/>
            <a:ext cx="1087221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Goals Scored by Minute (½)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20FE0-4591-9D6D-7251-2D8FB2927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441273"/>
            <a:ext cx="5385816" cy="3817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sz="1500" b="1" dirty="0">
                <a:ea typeface="+mn-lt"/>
                <a:cs typeface="+mn-lt"/>
              </a:rPr>
              <a:t>When are goals being scored?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sz="1500" b="1" dirty="0">
                <a:ea typeface="+mn-lt"/>
                <a:cs typeface="+mn-lt"/>
              </a:rPr>
              <a:t>Peaks:</a:t>
            </a:r>
            <a:r>
              <a:rPr lang="en-US" sz="1500" dirty="0">
                <a:ea typeface="+mn-lt"/>
                <a:cs typeface="+mn-lt"/>
              </a:rPr>
              <a:t> End of both halves → Defensive lapses &amp; tactical fatigue</a:t>
            </a:r>
            <a:endParaRPr lang="en-US" dirty="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Hot spots:</a:t>
            </a:r>
            <a:r>
              <a:rPr lang="en-US" sz="1500" dirty="0">
                <a:ea typeface="+mn-lt"/>
                <a:cs typeface="+mn-lt"/>
              </a:rPr>
              <a:t> 60th &amp; 70th minute → Substitutions and adjustments take effect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Takeaway: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100" dirty="0">
                <a:ea typeface="+mn-lt"/>
                <a:cs typeface="+mn-lt"/>
              </a:rPr>
              <a:t> Teams that stay organized </a:t>
            </a:r>
            <a:r>
              <a:rPr lang="en-US" sz="1100" b="1" dirty="0">
                <a:ea typeface="+mn-lt"/>
                <a:cs typeface="+mn-lt"/>
              </a:rPr>
              <a:t>late in halves</a:t>
            </a:r>
            <a:r>
              <a:rPr lang="en-US" sz="1100" dirty="0">
                <a:ea typeface="+mn-lt"/>
                <a:cs typeface="+mn-lt"/>
              </a:rPr>
              <a:t> gain a competitive edge.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/>
              <a:buChar char="o"/>
            </a:pPr>
            <a:r>
              <a:rPr lang="en-US" sz="1100" dirty="0">
                <a:ea typeface="+mn-lt"/>
                <a:cs typeface="+mn-lt"/>
              </a:rPr>
              <a:t> Players who perform in these windows are </a:t>
            </a:r>
            <a:r>
              <a:rPr lang="en-US" sz="1100" b="1" dirty="0">
                <a:ea typeface="+mn-lt"/>
                <a:cs typeface="+mn-lt"/>
              </a:rPr>
              <a:t>valuable in close matches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endParaRPr lang="en-US" sz="1500" b="1" dirty="0"/>
          </a:p>
          <a:p>
            <a:endParaRPr lang="en-US" sz="1500"/>
          </a:p>
        </p:txBody>
      </p:sp>
      <p:pic>
        <p:nvPicPr>
          <p:cNvPr id="4" name="Picture 3" descr="A graph with blue lines and dots&#10;&#10;AI-generated content may be incorrect.">
            <a:extLst>
              <a:ext uri="{FF2B5EF4-FFF2-40B4-BE49-F238E27FC236}">
                <a16:creationId xmlns:a16="http://schemas.microsoft.com/office/drawing/2014/main" id="{3EE44B4C-9E76-7E74-2592-FF883C631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78" y="2441274"/>
            <a:ext cx="5173647" cy="258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764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8982B-A0DA-8317-046E-7364F9809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81" y="746124"/>
            <a:ext cx="3479007" cy="1944687"/>
          </a:xfrm>
        </p:spPr>
        <p:txBody>
          <a:bodyPr/>
          <a:lstStyle/>
          <a:p>
            <a:r>
              <a:rPr lang="en-US" dirty="0"/>
              <a:t>Goals Per 90 Leaders - Midseason</a:t>
            </a:r>
          </a:p>
        </p:txBody>
      </p:sp>
      <p:pic>
        <p:nvPicPr>
          <p:cNvPr id="4" name="Content Placeholder 3" descr="A graph of a goal&#10;&#10;AI-generated content may be incorrect.">
            <a:extLst>
              <a:ext uri="{FF2B5EF4-FFF2-40B4-BE49-F238E27FC236}">
                <a16:creationId xmlns:a16="http://schemas.microsoft.com/office/drawing/2014/main" id="{ADC9325C-E15D-ABDD-E699-667D48422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0718" y="191559"/>
            <a:ext cx="7441405" cy="3055937"/>
          </a:xfrm>
        </p:spPr>
      </p:pic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CAD7C157-6A83-60D6-1172-90174715C8F0}"/>
              </a:ext>
            </a:extLst>
          </p:cNvPr>
          <p:cNvGraphicFramePr/>
          <p:nvPr/>
        </p:nvGraphicFramePr>
        <p:xfrm>
          <a:off x="235745" y="3426619"/>
          <a:ext cx="11327605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8110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F50C4-3E8D-7121-AE21-6BC1CFC5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E571-D295-63F1-7E1C-416C518B5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81" y="1306956"/>
            <a:ext cx="3771491" cy="1944687"/>
          </a:xfrm>
        </p:spPr>
        <p:txBody>
          <a:bodyPr/>
          <a:lstStyle/>
          <a:p>
            <a:r>
              <a:rPr lang="en-US" sz="3400" dirty="0"/>
              <a:t>Top Goal Scorers per 90-  Full Season</a:t>
            </a:r>
            <a:endParaRPr lang="en-US" sz="3400"/>
          </a:p>
          <a:p>
            <a:endParaRPr lang="en-US" dirty="0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65D1775C-36DB-4A4A-ED57-B16122A2BDC7}"/>
              </a:ext>
            </a:extLst>
          </p:cNvPr>
          <p:cNvGraphicFramePr/>
          <p:nvPr/>
        </p:nvGraphicFramePr>
        <p:xfrm>
          <a:off x="235745" y="3426619"/>
          <a:ext cx="11327605" cy="2862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1" name="Picture 90" descr="A graph with blue and white bars&#10;&#10;AI-generated content may be incorrect.">
            <a:extLst>
              <a:ext uri="{FF2B5EF4-FFF2-40B4-BE49-F238E27FC236}">
                <a16:creationId xmlns:a16="http://schemas.microsoft.com/office/drawing/2014/main" id="{9A8D90B9-6D3E-80DB-3292-3693369E20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5834" y="549679"/>
            <a:ext cx="7338675" cy="286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2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0C12A-97DB-6259-D505-6F971DD3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9899" y="501651"/>
            <a:ext cx="6029068" cy="1716255"/>
          </a:xfrm>
        </p:spPr>
        <p:txBody>
          <a:bodyPr anchor="b">
            <a:normAutofit fontScale="90000"/>
          </a:bodyPr>
          <a:lstStyle/>
          <a:p>
            <a:r>
              <a:rPr lang="en-US" sz="5200"/>
              <a:t>Assist Leaders (Mid-Season)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88903-FE58-BE3F-7185-8A68314169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583" y="2078994"/>
            <a:ext cx="4434721" cy="37104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b="1" dirty="0">
              <a:solidFill>
                <a:schemeClr val="tx1">
                  <a:alpha val="80000"/>
                </a:schemeClr>
              </a:solidFill>
              <a:ea typeface="+mn-lt"/>
              <a:cs typeface="+mn-lt"/>
            </a:endParaRPr>
          </a:p>
          <a:p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Andrew Bennett (</a:t>
            </a:r>
            <a:r>
              <a:rPr lang="en-US" sz="1900" b="1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Lionsbridge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)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&amp; 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Izaiah Vignali (Asheville City)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lead with 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3 assists each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Asheville City SC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features 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3 players in the top 10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→ strong team-oriented creativity.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Enzo </a:t>
            </a:r>
            <a:r>
              <a:rPr lang="en-US" sz="1900" b="1" dirty="0" err="1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Mauriz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&amp; 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Nicolas Cubas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 likely serve as </a:t>
            </a:r>
            <a:r>
              <a:rPr lang="en-US" sz="1900" b="1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deep-lying playmakers or attacking fullbacks</a:t>
            </a:r>
            <a:r>
              <a:rPr lang="en-US" sz="1900" dirty="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, driving buildup play.</a:t>
            </a:r>
            <a:endParaRPr lang="en-US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1900" b="1" dirty="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4" name="Picture 3" descr="A graph of a number of teams&#10;&#10;AI-generated content may be incorrect.">
            <a:extLst>
              <a:ext uri="{FF2B5EF4-FFF2-40B4-BE49-F238E27FC236}">
                <a16:creationId xmlns:a16="http://schemas.microsoft.com/office/drawing/2014/main" id="{A3793FC5-E9E6-65D1-A9CA-1B9CA87CB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3" y="1862513"/>
            <a:ext cx="5221625" cy="313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974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2FA9F-3A0C-4CF2-6C3A-273C1083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49" y="4848767"/>
            <a:ext cx="3370263" cy="133621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600" kern="1200" dirty="0">
                <a:latin typeface="+mj-lt"/>
                <a:ea typeface="+mj-ea"/>
                <a:cs typeface="+mj-cs"/>
              </a:rPr>
              <a:t>Assist per 90</a:t>
            </a:r>
            <a:r>
              <a:rPr lang="en-US" sz="3600" dirty="0"/>
              <a:t> Leaders Midseason</a:t>
            </a:r>
            <a:endParaRPr lang="en-US" sz="3600" kern="1200" dirty="0">
              <a:latin typeface="+mj-lt"/>
            </a:endParaRPr>
          </a:p>
        </p:txBody>
      </p:sp>
      <p:pic>
        <p:nvPicPr>
          <p:cNvPr id="4" name="Content Placeholder 3" descr="A green bar graph with white lines&#10;&#10;AI-generated content may be incorrect.">
            <a:extLst>
              <a:ext uri="{FF2B5EF4-FFF2-40B4-BE49-F238E27FC236}">
                <a16:creationId xmlns:a16="http://schemas.microsoft.com/office/drawing/2014/main" id="{8E2F20B7-B797-F3E1-4172-05D29EB29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4145" y="32616"/>
            <a:ext cx="10203169" cy="33925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DF2C1E0-3992-DA48-AB32-CDF8BDD53D30}"/>
              </a:ext>
            </a:extLst>
          </p:cNvPr>
          <p:cNvSpPr txBox="1"/>
          <p:nvPr/>
        </p:nvSpPr>
        <p:spPr>
          <a:xfrm>
            <a:off x="4371302" y="3822171"/>
            <a:ext cx="662463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Top Assisters per 90 – Key Takeaways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Michael Appiah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b="1" dirty="0">
                <a:ea typeface="+mn-lt"/>
                <a:cs typeface="+mn-lt"/>
              </a:rPr>
              <a:t>Alessandro </a:t>
            </a:r>
            <a:r>
              <a:rPr lang="en-US" b="1" dirty="0" err="1">
                <a:ea typeface="+mn-lt"/>
                <a:cs typeface="+mn-lt"/>
              </a:rPr>
              <a:t>Salvadego</a:t>
            </a:r>
            <a:r>
              <a:rPr lang="en-US" dirty="0">
                <a:ea typeface="+mn-lt"/>
                <a:cs typeface="+mn-lt"/>
              </a:rPr>
              <a:t> lead with </a:t>
            </a:r>
            <a:r>
              <a:rPr lang="en-US" b="1" dirty="0">
                <a:ea typeface="+mn-lt"/>
                <a:cs typeface="+mn-lt"/>
              </a:rPr>
              <a:t>0.30+ assists per 90</a:t>
            </a:r>
            <a:r>
              <a:rPr lang="en-US" dirty="0">
                <a:ea typeface="+mn-lt"/>
                <a:cs typeface="+mn-lt"/>
              </a:rPr>
              <a:t> → consistent chance creation.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Carlos Zambrano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b="1" dirty="0">
                <a:ea typeface="+mn-lt"/>
                <a:cs typeface="+mn-lt"/>
              </a:rPr>
              <a:t>Wan </a:t>
            </a:r>
            <a:r>
              <a:rPr lang="en-US" b="1" dirty="0" err="1">
                <a:ea typeface="+mn-lt"/>
                <a:cs typeface="+mn-lt"/>
              </a:rPr>
              <a:t>Kuzri</a:t>
            </a:r>
            <a:r>
              <a:rPr lang="en-US" b="1" dirty="0">
                <a:ea typeface="+mn-lt"/>
                <a:cs typeface="+mn-lt"/>
              </a:rPr>
              <a:t> wan Kamal</a:t>
            </a:r>
            <a:r>
              <a:rPr lang="en-US" dirty="0">
                <a:ea typeface="+mn-lt"/>
                <a:cs typeface="+mn-lt"/>
              </a:rPr>
              <a:t> excel in </a:t>
            </a:r>
            <a:r>
              <a:rPr lang="en-US" b="1" dirty="0">
                <a:ea typeface="+mn-lt"/>
                <a:cs typeface="+mn-lt"/>
              </a:rPr>
              <a:t>both assists &amp; overall goal involvements</a:t>
            </a:r>
            <a:r>
              <a:rPr lang="en-US" dirty="0">
                <a:ea typeface="+mn-lt"/>
                <a:cs typeface="+mn-lt"/>
              </a:rPr>
              <a:t> → creative dual threats.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All top providers</a:t>
            </a:r>
            <a:r>
              <a:rPr lang="en-US" dirty="0">
                <a:ea typeface="+mn-lt"/>
                <a:cs typeface="+mn-lt"/>
              </a:rPr>
              <a:t> produced over </a:t>
            </a:r>
            <a:r>
              <a:rPr lang="en-US" b="1" dirty="0">
                <a:ea typeface="+mn-lt"/>
                <a:cs typeface="+mn-lt"/>
              </a:rPr>
              <a:t>300+ minutes</a:t>
            </a:r>
            <a:r>
              <a:rPr lang="en-US" dirty="0">
                <a:ea typeface="+mn-lt"/>
                <a:cs typeface="+mn-lt"/>
              </a:rPr>
              <a:t>, proving reliability.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Midfielders &amp; fullbacks</a:t>
            </a:r>
            <a:r>
              <a:rPr lang="en-US" dirty="0">
                <a:ea typeface="+mn-lt"/>
                <a:cs typeface="+mn-lt"/>
              </a:rPr>
              <a:t> dominate the list, showing effective </a:t>
            </a:r>
            <a:r>
              <a:rPr lang="en-US" b="1" dirty="0">
                <a:ea typeface="+mn-lt"/>
                <a:cs typeface="+mn-lt"/>
              </a:rPr>
              <a:t>wide and central distribution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03537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A5BAA-40B2-7AF7-D7FE-0CEA5337F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509" y="3917999"/>
            <a:ext cx="4396509" cy="1325563"/>
          </a:xfrm>
        </p:spPr>
        <p:txBody>
          <a:bodyPr/>
          <a:lstStyle/>
          <a:p>
            <a:r>
              <a:rPr lang="en-US" dirty="0"/>
              <a:t>G/A per 90 Leaders Midseason</a:t>
            </a:r>
          </a:p>
        </p:txBody>
      </p:sp>
      <p:pic>
        <p:nvPicPr>
          <p:cNvPr id="4" name="Content Placeholder 3" descr="A graph of a goal&#10;&#10;AI-generated content may be incorrect.">
            <a:extLst>
              <a:ext uri="{FF2B5EF4-FFF2-40B4-BE49-F238E27FC236}">
                <a16:creationId xmlns:a16="http://schemas.microsoft.com/office/drawing/2014/main" id="{8C5D752E-B9B7-C060-7788-92536790AC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469" y="139700"/>
            <a:ext cx="9167813" cy="306784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95E0210-5A78-7E3D-196E-976A9E4ABFBA}"/>
              </a:ext>
            </a:extLst>
          </p:cNvPr>
          <p:cNvSpPr txBox="1"/>
          <p:nvPr/>
        </p:nvSpPr>
        <p:spPr>
          <a:xfrm>
            <a:off x="5319712" y="3426619"/>
            <a:ext cx="6874668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Top Goal Involvements per 90 – Key Takeaways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Quinn Mahoney</a:t>
            </a:r>
            <a:r>
              <a:rPr lang="en-US" dirty="0">
                <a:ea typeface="+mn-lt"/>
                <a:cs typeface="+mn-lt"/>
              </a:rPr>
              <a:t> leads with </a:t>
            </a:r>
            <a:r>
              <a:rPr lang="en-US" b="1" dirty="0">
                <a:ea typeface="+mn-lt"/>
                <a:cs typeface="+mn-lt"/>
              </a:rPr>
              <a:t>1.58 goal involvements/90</a:t>
            </a:r>
            <a:r>
              <a:rPr lang="en-US" dirty="0">
                <a:ea typeface="+mn-lt"/>
                <a:cs typeface="+mn-lt"/>
              </a:rPr>
              <a:t>, showing strong all-around impact.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Sean </a:t>
            </a:r>
            <a:r>
              <a:rPr lang="en-US" b="1" dirty="0" err="1">
                <a:ea typeface="+mn-lt"/>
                <a:cs typeface="+mn-lt"/>
              </a:rPr>
              <a:t>Battistessa</a:t>
            </a:r>
            <a:r>
              <a:rPr lang="en-US" dirty="0">
                <a:ea typeface="+mn-lt"/>
                <a:cs typeface="+mn-lt"/>
              </a:rPr>
              <a:t> &amp; </a:t>
            </a:r>
            <a:r>
              <a:rPr lang="en-US" b="1" dirty="0">
                <a:ea typeface="+mn-lt"/>
                <a:cs typeface="+mn-lt"/>
              </a:rPr>
              <a:t>Carlos Zambrano</a:t>
            </a:r>
            <a:r>
              <a:rPr lang="en-US" dirty="0">
                <a:ea typeface="+mn-lt"/>
                <a:cs typeface="+mn-lt"/>
              </a:rPr>
              <a:t> follow closely with balanced attacking profiles.</a:t>
            </a: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Mahoney, Giles, Zambrano, Robertson</a:t>
            </a:r>
            <a:r>
              <a:rPr lang="en-US" dirty="0">
                <a:ea typeface="+mn-lt"/>
                <a:cs typeface="+mn-lt"/>
              </a:rPr>
              <a:t> appear across </a:t>
            </a:r>
            <a:r>
              <a:rPr lang="en-US" b="1" dirty="0">
                <a:ea typeface="+mn-lt"/>
                <a:cs typeface="+mn-lt"/>
              </a:rPr>
              <a:t>both goals &amp; assists charts</a:t>
            </a:r>
            <a:r>
              <a:rPr lang="en-US" dirty="0">
                <a:ea typeface="+mn-lt"/>
                <a:cs typeface="+mn-lt"/>
              </a:rPr>
              <a:t> → versatile offensive threats.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Each contributes to </a:t>
            </a:r>
            <a:r>
              <a:rPr lang="en-US" b="1" dirty="0">
                <a:ea typeface="+mn-lt"/>
                <a:cs typeface="+mn-lt"/>
              </a:rPr>
              <a:t>1+ goal involvement per match</a:t>
            </a:r>
            <a:r>
              <a:rPr lang="en-US" dirty="0">
                <a:ea typeface="+mn-lt"/>
                <a:cs typeface="+mn-lt"/>
              </a:rPr>
              <a:t>, making them vital to team success.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2915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E4C62-FA4D-6503-496A-9AD13737E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731" y="2555875"/>
            <a:ext cx="5062537" cy="1325563"/>
          </a:xfrm>
        </p:spPr>
        <p:txBody>
          <a:bodyPr/>
          <a:lstStyle/>
          <a:p>
            <a:r>
              <a:rPr lang="en-US"/>
              <a:t>Age-Based Statistics</a:t>
            </a:r>
          </a:p>
        </p:txBody>
      </p:sp>
    </p:spTree>
    <p:extLst>
      <p:ext uri="{BB962C8B-B14F-4D97-AF65-F5344CB8AC3E}">
        <p14:creationId xmlns:p14="http://schemas.microsoft.com/office/powerpoint/2010/main" val="2531185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8335-B7F7-F395-79E5-F83E6C37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085" y="5265840"/>
            <a:ext cx="9165404" cy="1305144"/>
          </a:xfrm>
        </p:spPr>
        <p:txBody>
          <a:bodyPr anchor="b">
            <a:normAutofit fontScale="90000"/>
          </a:bodyPr>
          <a:lstStyle/>
          <a:p>
            <a:r>
              <a:rPr lang="en-US" sz="4000" dirty="0"/>
              <a:t>Goals Scored By Age - Midseason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6CF4F-92C2-392A-3A77-F3F28AC4C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2304379"/>
            <a:ext cx="3304272" cy="38770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Peak scoring:</a:t>
            </a:r>
            <a:r>
              <a:rPr lang="en-US" sz="1400" dirty="0">
                <a:ea typeface="+mn-lt"/>
                <a:cs typeface="+mn-lt"/>
              </a:rPr>
              <a:t> Ages </a:t>
            </a:r>
            <a:r>
              <a:rPr lang="en-US" sz="1400" b="1" dirty="0">
                <a:ea typeface="+mn-lt"/>
                <a:cs typeface="+mn-lt"/>
              </a:rPr>
              <a:t>20–22</a:t>
            </a:r>
            <a:r>
              <a:rPr lang="en-US" sz="1400" dirty="0">
                <a:ea typeface="+mn-lt"/>
                <a:cs typeface="+mn-lt"/>
              </a:rPr>
              <a:t>, with the </a:t>
            </a:r>
            <a:r>
              <a:rPr lang="en-US" sz="1400" b="1" dirty="0">
                <a:ea typeface="+mn-lt"/>
                <a:cs typeface="+mn-lt"/>
              </a:rPr>
              <a:t>highest at 21</a:t>
            </a:r>
            <a:r>
              <a:rPr lang="en-US" sz="1400" dirty="0">
                <a:ea typeface="+mn-lt"/>
                <a:cs typeface="+mn-lt"/>
              </a:rPr>
              <a:t> → aligns with prime NCAA &amp; pre-pro transition years.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Rapid growth:</a:t>
            </a:r>
            <a:r>
              <a:rPr lang="en-US" sz="1400" dirty="0">
                <a:ea typeface="+mn-lt"/>
                <a:cs typeface="+mn-lt"/>
              </a:rPr>
              <a:t> From </a:t>
            </a:r>
            <a:r>
              <a:rPr lang="en-US" sz="1400" b="1" dirty="0">
                <a:ea typeface="+mn-lt"/>
                <a:cs typeface="+mn-lt"/>
              </a:rPr>
              <a:t>18–21</a:t>
            </a:r>
            <a:r>
              <a:rPr lang="en-US" sz="1400" dirty="0">
                <a:ea typeface="+mn-lt"/>
                <a:cs typeface="+mn-lt"/>
              </a:rPr>
              <a:t>, showing accelerated physical &amp; tactical development → ideal for </a:t>
            </a:r>
            <a:r>
              <a:rPr lang="en-US" sz="1400" b="1" dirty="0">
                <a:ea typeface="+mn-lt"/>
                <a:cs typeface="+mn-lt"/>
              </a:rPr>
              <a:t>academy/college scouting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Decline after 22:</a:t>
            </a:r>
            <a:r>
              <a:rPr lang="en-US" sz="1400" dirty="0">
                <a:ea typeface="+mn-lt"/>
                <a:cs typeface="+mn-lt"/>
              </a:rPr>
              <a:t> Sharp drop by 24 → likely due to fewer older attackers or deeper roles.</a:t>
            </a:r>
            <a:endParaRPr lang="en-US" sz="1400" dirty="0"/>
          </a:p>
          <a:p>
            <a:pPr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Teenagers (16–18):</a:t>
            </a:r>
            <a:r>
              <a:rPr lang="en-US" sz="1400" dirty="0">
                <a:ea typeface="+mn-lt"/>
                <a:cs typeface="+mn-lt"/>
              </a:rPr>
              <a:t> Minimal output but signal </a:t>
            </a:r>
            <a:r>
              <a:rPr lang="en-US" sz="1400" b="1" dirty="0">
                <a:ea typeface="+mn-lt"/>
                <a:cs typeface="+mn-lt"/>
              </a:rPr>
              <a:t>early development potential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/>
          </a:p>
          <a:p>
            <a:pPr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300" b="1" dirty="0"/>
          </a:p>
          <a:p>
            <a:endParaRPr lang="en-US" sz="1300"/>
          </a:p>
        </p:txBody>
      </p:sp>
      <p:pic>
        <p:nvPicPr>
          <p:cNvPr id="4" name="Picture 3" descr="A graph with a line&#10;&#10;AI-generated content may be incorrect.">
            <a:extLst>
              <a:ext uri="{FF2B5EF4-FFF2-40B4-BE49-F238E27FC236}">
                <a16:creationId xmlns:a16="http://schemas.microsoft.com/office/drawing/2014/main" id="{1110C78D-4BED-5ACE-7036-E1AC97FEF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560" y="1240451"/>
            <a:ext cx="6825524" cy="3750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711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9E00D-5CDD-919C-7836-147DB945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384" y="838008"/>
            <a:ext cx="10612306" cy="108172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/>
              <a:t>Goals Scored by Age -</a:t>
            </a:r>
            <a:r>
              <a:rPr lang="en-US" sz="3400" kern="1200" dirty="0">
                <a:latin typeface="+mj-lt"/>
                <a:ea typeface="+mj-ea"/>
                <a:cs typeface="+mj-cs"/>
              </a:rPr>
              <a:t>Full Season</a:t>
            </a:r>
          </a:p>
        </p:txBody>
      </p:sp>
      <p:pic>
        <p:nvPicPr>
          <p:cNvPr id="4" name="Content Placeholder 3" descr="A graph with a line&#10;&#10;AI-generated content may be incorrect.">
            <a:extLst>
              <a:ext uri="{FF2B5EF4-FFF2-40B4-BE49-F238E27FC236}">
                <a16:creationId xmlns:a16="http://schemas.microsoft.com/office/drawing/2014/main" id="{690791A5-45F7-6D1F-FCD3-21E6B7A171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3325" y="2110969"/>
            <a:ext cx="6440424" cy="32202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37D29-C9E0-627E-180C-0A3D3F0C5BF3}"/>
              </a:ext>
            </a:extLst>
          </p:cNvPr>
          <p:cNvSpPr txBox="1"/>
          <p:nvPr/>
        </p:nvSpPr>
        <p:spPr>
          <a:xfrm>
            <a:off x="405384" y="1580489"/>
            <a:ext cx="4398297" cy="3751660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1000" dirty="0"/>
            </a:br>
            <a:endParaRPr lang="en-US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400" b="1" dirty="0"/>
          </a:p>
          <a:p>
            <a:r>
              <a:rPr lang="en-US" sz="1400" b="1" dirty="0">
                <a:ea typeface="+mn-lt"/>
                <a:cs typeface="+mn-lt"/>
              </a:rPr>
              <a:t>Full Season Insights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Peak remains at 21</a:t>
            </a:r>
            <a:r>
              <a:rPr lang="en-US" sz="1400" dirty="0">
                <a:ea typeface="+mn-lt"/>
                <a:cs typeface="+mn-lt"/>
              </a:rPr>
              <a:t>, followed by </a:t>
            </a:r>
            <a:r>
              <a:rPr lang="en-US" sz="1400" b="1" dirty="0">
                <a:ea typeface="+mn-lt"/>
                <a:cs typeface="+mn-lt"/>
              </a:rPr>
              <a:t>20 &amp; 22</a:t>
            </a:r>
            <a:r>
              <a:rPr lang="en-US" sz="1400" dirty="0">
                <a:ea typeface="+mn-lt"/>
                <a:cs typeface="+mn-lt"/>
              </a:rPr>
              <a:t> → consistent with mid-season findings.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Steep rise</a:t>
            </a:r>
            <a:r>
              <a:rPr lang="en-US" sz="1400" dirty="0">
                <a:ea typeface="+mn-lt"/>
                <a:cs typeface="+mn-lt"/>
              </a:rPr>
              <a:t> from </a:t>
            </a:r>
            <a:r>
              <a:rPr lang="en-US" sz="1400" b="1" dirty="0">
                <a:ea typeface="+mn-lt"/>
                <a:cs typeface="+mn-lt"/>
              </a:rPr>
              <a:t>18–20</a:t>
            </a:r>
            <a:r>
              <a:rPr lang="en-US" sz="1400" dirty="0">
                <a:ea typeface="+mn-lt"/>
                <a:cs typeface="+mn-lt"/>
              </a:rPr>
              <a:t> → strong acceleration in attacking impact.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Sharp decline after 22</a:t>
            </a:r>
            <a:r>
              <a:rPr lang="en-US" sz="1400" dirty="0">
                <a:ea typeface="+mn-lt"/>
                <a:cs typeface="+mn-lt"/>
              </a:rPr>
              <a:t> and </a:t>
            </a:r>
            <a:r>
              <a:rPr lang="en-US" sz="1400" b="1" dirty="0">
                <a:ea typeface="+mn-lt"/>
                <a:cs typeface="+mn-lt"/>
              </a:rPr>
              <a:t>minimal contributions from 16–18 &amp; 30+</a:t>
            </a:r>
            <a:r>
              <a:rPr lang="en-US" sz="1400" dirty="0">
                <a:ea typeface="+mn-lt"/>
                <a:cs typeface="+mn-lt"/>
              </a:rPr>
              <a:t> → confirms the league’s developmental focus.</a:t>
            </a:r>
          </a:p>
          <a:p>
            <a:r>
              <a:rPr lang="en-US" sz="1400" b="1" dirty="0">
                <a:ea typeface="+mn-lt"/>
                <a:cs typeface="+mn-lt"/>
              </a:rPr>
              <a:t>Reinforced Themes: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Consistency:</a:t>
            </a:r>
            <a:r>
              <a:rPr lang="en-US" sz="1400" dirty="0">
                <a:ea typeface="+mn-lt"/>
                <a:cs typeface="+mn-lt"/>
              </a:rPr>
              <a:t> Mid-season trends held through year-end.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Predictive Value:</a:t>
            </a:r>
            <a:r>
              <a:rPr lang="en-US" sz="1400" dirty="0">
                <a:ea typeface="+mn-lt"/>
                <a:cs typeface="+mn-lt"/>
              </a:rPr>
              <a:t> Early-season data accurately projected final outcomes.</a:t>
            </a:r>
          </a:p>
          <a:p>
            <a:pPr marL="285750" indent="-285750">
              <a:buFont typeface="Arial"/>
              <a:buChar char="•"/>
            </a:pPr>
            <a:r>
              <a:rPr lang="en-US" sz="1400" b="1" dirty="0">
                <a:ea typeface="+mn-lt"/>
                <a:cs typeface="+mn-lt"/>
              </a:rPr>
              <a:t>Strategic Use:</a:t>
            </a:r>
            <a:r>
              <a:rPr lang="en-US" sz="1400" dirty="0">
                <a:ea typeface="+mn-lt"/>
                <a:cs typeface="+mn-lt"/>
              </a:rPr>
              <a:t> Supports </a:t>
            </a:r>
            <a:r>
              <a:rPr lang="en-US" sz="1400" b="1" dirty="0">
                <a:ea typeface="+mn-lt"/>
                <a:cs typeface="+mn-lt"/>
              </a:rPr>
              <a:t>age-based recruiting &amp; development planning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1000" b="1" dirty="0"/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9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7675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28DF-6798-69D2-1CDD-BE6FB958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10788405" cy="1330841"/>
          </a:xfrm>
        </p:spPr>
        <p:txBody>
          <a:bodyPr>
            <a:normAutofit/>
          </a:bodyPr>
          <a:lstStyle/>
          <a:p>
            <a:r>
              <a:rPr lang="en-US" dirty="0"/>
              <a:t>Avg Age of Highest Scoring teams Midseason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6C177-81B7-0B0A-6D67-B3A7F5CFA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024" y="2290726"/>
            <a:ext cx="4958966" cy="39177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700" b="1" dirty="0">
                <a:ea typeface="+mn-lt"/>
                <a:cs typeface="+mn-lt"/>
              </a:rPr>
              <a:t>San Juan SC &amp; RKC Third Coast</a:t>
            </a:r>
            <a:r>
              <a:rPr lang="en-US" sz="1700" dirty="0">
                <a:ea typeface="+mn-lt"/>
                <a:cs typeface="+mn-lt"/>
              </a:rPr>
              <a:t> (~20 yrs) → </a:t>
            </a:r>
            <a:r>
              <a:rPr lang="en-US" sz="1700" b="1" dirty="0">
                <a:ea typeface="+mn-lt"/>
                <a:cs typeface="+mn-lt"/>
              </a:rPr>
              <a:t>Development-focused</a:t>
            </a:r>
            <a:r>
              <a:rPr lang="en-US" sz="1700" dirty="0">
                <a:ea typeface="+mn-lt"/>
                <a:cs typeface="+mn-lt"/>
              </a:rPr>
              <a:t>, likely academy-driven.</a:t>
            </a:r>
            <a:endParaRPr lang="en-US" sz="1700" dirty="0"/>
          </a:p>
          <a:p>
            <a:r>
              <a:rPr lang="en-US" sz="1700" b="1" dirty="0" err="1">
                <a:ea typeface="+mn-lt"/>
                <a:cs typeface="+mn-lt"/>
              </a:rPr>
              <a:t>Lionsbridge</a:t>
            </a:r>
            <a:r>
              <a:rPr lang="en-US" sz="1700" b="1" dirty="0">
                <a:ea typeface="+mn-lt"/>
                <a:cs typeface="+mn-lt"/>
              </a:rPr>
              <a:t> FC, Western Mass, Asheville City</a:t>
            </a:r>
            <a:r>
              <a:rPr lang="en-US" sz="1700" dirty="0">
                <a:ea typeface="+mn-lt"/>
                <a:cs typeface="+mn-lt"/>
              </a:rPr>
              <a:t> (21.5+) → </a:t>
            </a:r>
            <a:r>
              <a:rPr lang="en-US" sz="1700" b="1" dirty="0">
                <a:ea typeface="+mn-lt"/>
                <a:cs typeface="+mn-lt"/>
              </a:rPr>
              <a:t>Experienced &amp; tactically mature</a:t>
            </a:r>
            <a:r>
              <a:rPr lang="en-US" sz="1700" dirty="0">
                <a:ea typeface="+mn-lt"/>
                <a:cs typeface="+mn-lt"/>
              </a:rPr>
              <a:t> attacks.</a:t>
            </a:r>
            <a:endParaRPr lang="en-US" dirty="0"/>
          </a:p>
          <a:p>
            <a:r>
              <a:rPr lang="en-US" sz="1700" b="1" dirty="0">
                <a:ea typeface="+mn-lt"/>
                <a:cs typeface="+mn-lt"/>
              </a:rPr>
              <a:t>Ventura County Fusion, City SC, Laredo Heat</a:t>
            </a:r>
            <a:r>
              <a:rPr lang="en-US" sz="1700" dirty="0">
                <a:ea typeface="+mn-lt"/>
                <a:cs typeface="+mn-lt"/>
              </a:rPr>
              <a:t> (20.8–21.2) → </a:t>
            </a:r>
            <a:r>
              <a:rPr lang="en-US" sz="1700" b="1" dirty="0">
                <a:ea typeface="+mn-lt"/>
                <a:cs typeface="+mn-lt"/>
              </a:rPr>
              <a:t>Balanced mix</a:t>
            </a:r>
            <a:r>
              <a:rPr lang="en-US" sz="1700" dirty="0">
                <a:ea typeface="+mn-lt"/>
                <a:cs typeface="+mn-lt"/>
              </a:rPr>
              <a:t> of youth &amp; experience.</a:t>
            </a:r>
            <a:endParaRPr lang="en-US" dirty="0"/>
          </a:p>
          <a:p>
            <a:endParaRPr lang="en-US" sz="1700" dirty="0"/>
          </a:p>
          <a:p>
            <a:endParaRPr lang="en-US" sz="17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3C04E-F545-4B78-919E-F1C9DA8FF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671" y="2288473"/>
            <a:ext cx="6766625" cy="331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78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3530B-E300-CCA9-CBEC-4A62DA6E8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07872"/>
            <a:ext cx="11015156" cy="1719072"/>
          </a:xfrm>
        </p:spPr>
        <p:txBody>
          <a:bodyPr anchor="b">
            <a:normAutofit fontScale="90000"/>
          </a:bodyPr>
          <a:lstStyle/>
          <a:p>
            <a:r>
              <a:rPr lang="en-US" sz="4900" dirty="0">
                <a:ea typeface="+mj-lt"/>
                <a:cs typeface="+mj-lt"/>
              </a:rPr>
              <a:t>Avg Age of Highest Scoring teams Full Season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4FF918-915A-DA7D-1C37-87842E2C9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204" y="2230295"/>
            <a:ext cx="4099034" cy="3410712"/>
          </a:xfrm>
        </p:spPr>
        <p:txBody>
          <a:bodyPr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Full Season</a:t>
            </a:r>
            <a:endParaRPr lang="en-US" dirty="0"/>
          </a:p>
          <a:p>
            <a:r>
              <a:rPr lang="en-US" sz="2200" b="1" dirty="0">
                <a:ea typeface="+mn-lt"/>
                <a:cs typeface="+mn-lt"/>
              </a:rPr>
              <a:t>San Juan SC</a:t>
            </a:r>
            <a:r>
              <a:rPr lang="en-US" sz="2200" dirty="0">
                <a:ea typeface="+mn-lt"/>
                <a:cs typeface="+mn-lt"/>
              </a:rPr>
              <a:t> (~21 yrs) → Sustained </a:t>
            </a:r>
            <a:r>
              <a:rPr lang="en-US" sz="2200" b="1" dirty="0">
                <a:ea typeface="+mn-lt"/>
                <a:cs typeface="+mn-lt"/>
              </a:rPr>
              <a:t>youth-driven scoring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r>
              <a:rPr lang="en-US" sz="2200" b="1" dirty="0">
                <a:ea typeface="+mn-lt"/>
                <a:cs typeface="+mn-lt"/>
              </a:rPr>
              <a:t>Asheville City SC &amp; </a:t>
            </a:r>
            <a:r>
              <a:rPr lang="en-US" sz="2200" b="1" dirty="0" err="1">
                <a:ea typeface="+mn-lt"/>
                <a:cs typeface="+mn-lt"/>
              </a:rPr>
              <a:t>Lionsbridge</a:t>
            </a:r>
            <a:r>
              <a:rPr lang="en-US" sz="2200" b="1" dirty="0">
                <a:ea typeface="+mn-lt"/>
                <a:cs typeface="+mn-lt"/>
              </a:rPr>
              <a:t> FC</a:t>
            </a:r>
            <a:r>
              <a:rPr lang="en-US" sz="2200" dirty="0">
                <a:ea typeface="+mn-lt"/>
                <a:cs typeface="+mn-lt"/>
              </a:rPr>
              <a:t> → </a:t>
            </a:r>
            <a:r>
              <a:rPr lang="en-US" sz="2200" b="1" dirty="0">
                <a:ea typeface="+mn-lt"/>
                <a:cs typeface="+mn-lt"/>
              </a:rPr>
              <a:t>Experienced attacking cores</a:t>
            </a:r>
            <a:r>
              <a:rPr lang="en-US" sz="2200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r>
              <a:rPr lang="en-US" sz="2200" b="1" dirty="0">
                <a:ea typeface="+mn-lt"/>
                <a:cs typeface="+mn-lt"/>
              </a:rPr>
              <a:t>Western Mass Pioneers &amp; Des Moines Menace</a:t>
            </a:r>
            <a:r>
              <a:rPr lang="en-US" sz="2200" dirty="0">
                <a:ea typeface="+mn-lt"/>
                <a:cs typeface="+mn-lt"/>
              </a:rPr>
              <a:t> → </a:t>
            </a:r>
            <a:r>
              <a:rPr lang="en-US" sz="2200" b="1" dirty="0">
                <a:ea typeface="+mn-lt"/>
                <a:cs typeface="+mn-lt"/>
              </a:rPr>
              <a:t>Older, tactically mature</a:t>
            </a:r>
            <a:r>
              <a:rPr lang="en-US" sz="2200" dirty="0">
                <a:ea typeface="+mn-lt"/>
                <a:cs typeface="+mn-lt"/>
              </a:rPr>
              <a:t> attacks.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200" b="1" dirty="0">
                <a:ea typeface="+mn-lt"/>
                <a:cs typeface="+mn-lt"/>
              </a:rPr>
              <a:t>Confirmed:</a:t>
            </a:r>
            <a:endParaRPr lang="en-US" dirty="0">
              <a:ea typeface="+mn-lt"/>
              <a:cs typeface="+mn-lt"/>
            </a:endParaRPr>
          </a:p>
          <a:p>
            <a:r>
              <a:rPr lang="en-US" sz="2200" b="1" dirty="0">
                <a:ea typeface="+mn-lt"/>
                <a:cs typeface="+mn-lt"/>
              </a:rPr>
              <a:t>Youth-focused teams</a:t>
            </a:r>
            <a:r>
              <a:rPr lang="en-US" sz="2200" dirty="0">
                <a:ea typeface="+mn-lt"/>
                <a:cs typeface="+mn-lt"/>
              </a:rPr>
              <a:t> (e.g., San Juan) maintained high output.</a:t>
            </a:r>
          </a:p>
          <a:p>
            <a:r>
              <a:rPr lang="en-US" sz="2200" b="1" dirty="0">
                <a:ea typeface="+mn-lt"/>
                <a:cs typeface="+mn-lt"/>
              </a:rPr>
              <a:t>Experienced teams</a:t>
            </a:r>
            <a:r>
              <a:rPr lang="en-US" sz="2200" dirty="0">
                <a:ea typeface="+mn-lt"/>
                <a:cs typeface="+mn-lt"/>
              </a:rPr>
              <a:t> (e.g., </a:t>
            </a:r>
            <a:r>
              <a:rPr lang="en-US" sz="2200" dirty="0" err="1">
                <a:ea typeface="+mn-lt"/>
                <a:cs typeface="+mn-lt"/>
              </a:rPr>
              <a:t>Lionsbridge</a:t>
            </a:r>
            <a:r>
              <a:rPr lang="en-US" sz="2200" dirty="0">
                <a:ea typeface="+mn-lt"/>
                <a:cs typeface="+mn-lt"/>
              </a:rPr>
              <a:t>, Western Mass) stayed consistently strong.</a:t>
            </a:r>
          </a:p>
          <a:p>
            <a:pPr lvl="1"/>
            <a:endParaRPr lang="en-US" sz="2200" dirty="0">
              <a:ea typeface="+mn-lt"/>
              <a:cs typeface="+mn-lt"/>
            </a:endParaRPr>
          </a:p>
          <a:p>
            <a:pPr lvl="1"/>
            <a:endParaRPr lang="en-US" sz="1800" dirty="0"/>
          </a:p>
          <a:p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FCC05B-4FBE-73C0-DDDE-CA524C390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24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FA34-D27B-F4BE-40C9-661FB67A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285" y="4861493"/>
            <a:ext cx="7171888" cy="1357481"/>
          </a:xfrm>
        </p:spPr>
        <p:txBody>
          <a:bodyPr anchor="b">
            <a:normAutofit/>
          </a:bodyPr>
          <a:lstStyle/>
          <a:p>
            <a:r>
              <a:rPr lang="en-US" sz="4000" dirty="0"/>
              <a:t>Avg Age of Lowest Scoring Teams Midseason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A1E0-49E7-450D-2FB0-D88904D36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006" y="1042507"/>
            <a:ext cx="3304272" cy="449881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>
              <a:buNone/>
            </a:pPr>
            <a:endParaRPr lang="en-US" b="1" dirty="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Academica SC</a:t>
            </a:r>
            <a:r>
              <a:rPr lang="en-US" sz="1500" dirty="0">
                <a:ea typeface="+mn-lt"/>
                <a:cs typeface="+mn-lt"/>
              </a:rPr>
              <a:t> (~25 yrs) → Veteran-led but </a:t>
            </a:r>
            <a:r>
              <a:rPr lang="en-US" sz="1500" b="1" dirty="0">
                <a:ea typeface="+mn-lt"/>
                <a:cs typeface="+mn-lt"/>
              </a:rPr>
              <a:t>low attacking return</a:t>
            </a:r>
            <a:r>
              <a:rPr lang="en-US" sz="1500" dirty="0">
                <a:ea typeface="+mn-lt"/>
                <a:cs typeface="+mn-lt"/>
              </a:rPr>
              <a:t>.</a:t>
            </a:r>
            <a:endParaRPr lang="en-US" sz="150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Patuxent FA &amp; FC Miami City</a:t>
            </a:r>
            <a:r>
              <a:rPr lang="en-US" sz="1500" dirty="0">
                <a:ea typeface="+mn-lt"/>
                <a:cs typeface="+mn-lt"/>
              </a:rPr>
              <a:t> (22+) → </a:t>
            </a:r>
            <a:r>
              <a:rPr lang="en-US" sz="1500" b="1" dirty="0">
                <a:ea typeface="+mn-lt"/>
                <a:cs typeface="+mn-lt"/>
              </a:rPr>
              <a:t>Limited youth integration</a:t>
            </a:r>
            <a:r>
              <a:rPr lang="en-US" sz="1500" dirty="0">
                <a:ea typeface="+mn-lt"/>
                <a:cs typeface="+mn-lt"/>
              </a:rPr>
              <a:t> in attack.</a:t>
            </a:r>
            <a:endParaRPr lang="en-US" sz="150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Kings Hammer Columbus &amp; West Virginia United</a:t>
            </a:r>
            <a:r>
              <a:rPr lang="en-US" sz="1500" dirty="0">
                <a:ea typeface="+mn-lt"/>
                <a:cs typeface="+mn-lt"/>
              </a:rPr>
              <a:t> (~19 yrs) → </a:t>
            </a:r>
            <a:r>
              <a:rPr lang="en-US" sz="1500" b="1" dirty="0">
                <a:ea typeface="+mn-lt"/>
                <a:cs typeface="+mn-lt"/>
              </a:rPr>
              <a:t>Raw but underdeveloped</a:t>
            </a:r>
            <a:r>
              <a:rPr lang="en-US" sz="1500" dirty="0">
                <a:ea typeface="+mn-lt"/>
                <a:cs typeface="+mn-lt"/>
              </a:rPr>
              <a:t> scoring units.</a:t>
            </a:r>
          </a:p>
          <a:p>
            <a:pPr marL="0" indent="0">
              <a:buNone/>
            </a:pPr>
            <a:r>
              <a:rPr lang="en-US" sz="1500" b="1" dirty="0">
                <a:ea typeface="+mn-lt"/>
                <a:cs typeface="+mn-lt"/>
              </a:rPr>
              <a:t>Scouting Takeaways:</a:t>
            </a:r>
            <a:endParaRPr lang="en-US" sz="150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Older, low-scoring teams</a:t>
            </a:r>
            <a:r>
              <a:rPr lang="en-US" sz="1500" dirty="0">
                <a:ea typeface="+mn-lt"/>
                <a:cs typeface="+mn-lt"/>
              </a:rPr>
              <a:t> need an </a:t>
            </a:r>
            <a:r>
              <a:rPr lang="en-US" sz="1500" b="1" dirty="0">
                <a:ea typeface="+mn-lt"/>
                <a:cs typeface="+mn-lt"/>
              </a:rPr>
              <a:t>attacking refresh</a:t>
            </a:r>
            <a:r>
              <a:rPr lang="en-US" sz="1500" dirty="0">
                <a:ea typeface="+mn-lt"/>
                <a:cs typeface="+mn-lt"/>
              </a:rPr>
              <a:t> or youth infusion.</a:t>
            </a:r>
            <a:endParaRPr lang="en-US" sz="1500"/>
          </a:p>
          <a:p>
            <a:pPr>
              <a:buFont typeface="Arial"/>
            </a:pPr>
            <a:r>
              <a:rPr lang="en-US" sz="1500" b="1" dirty="0">
                <a:ea typeface="+mn-lt"/>
                <a:cs typeface="+mn-lt"/>
              </a:rPr>
              <a:t>Youth-heavy squads</a:t>
            </a:r>
            <a:r>
              <a:rPr lang="en-US" sz="1500" dirty="0">
                <a:ea typeface="+mn-lt"/>
                <a:cs typeface="+mn-lt"/>
              </a:rPr>
              <a:t> (e.g., West Virginia) show </a:t>
            </a:r>
            <a:r>
              <a:rPr lang="en-US" sz="1500" b="1" dirty="0">
                <a:ea typeface="+mn-lt"/>
                <a:cs typeface="+mn-lt"/>
              </a:rPr>
              <a:t>long-term development potential</a:t>
            </a:r>
            <a:r>
              <a:rPr lang="en-US" sz="1500" dirty="0">
                <a:ea typeface="+mn-lt"/>
                <a:cs typeface="+mn-lt"/>
              </a:rPr>
              <a:t>.</a:t>
            </a:r>
            <a:endParaRPr lang="en-US" sz="1500"/>
          </a:p>
          <a:p>
            <a:pPr>
              <a:buFont typeface="Arial"/>
            </a:pPr>
            <a:r>
              <a:rPr lang="en-US" sz="1500" dirty="0">
                <a:ea typeface="+mn-lt"/>
                <a:cs typeface="+mn-lt"/>
              </a:rPr>
              <a:t>Greater </a:t>
            </a:r>
            <a:r>
              <a:rPr lang="en-US" sz="1500" b="1" dirty="0">
                <a:ea typeface="+mn-lt"/>
                <a:cs typeface="+mn-lt"/>
              </a:rPr>
              <a:t>age diversity</a:t>
            </a:r>
            <a:r>
              <a:rPr lang="en-US" sz="1500" dirty="0">
                <a:ea typeface="+mn-lt"/>
                <a:cs typeface="+mn-lt"/>
              </a:rPr>
              <a:t> here vs. top-scoring teams.</a:t>
            </a:r>
          </a:p>
          <a:p>
            <a:pPr marL="0" indent="0">
              <a:buNone/>
            </a:pPr>
            <a:endParaRPr lang="en-US" sz="1100" b="1" dirty="0"/>
          </a:p>
        </p:txBody>
      </p:sp>
      <p:pic>
        <p:nvPicPr>
          <p:cNvPr id="4" name="Picture 3" descr="A red and white chart&#10;&#10;AI-generated content may be incorrect.">
            <a:extLst>
              <a:ext uri="{FF2B5EF4-FFF2-40B4-BE49-F238E27FC236}">
                <a16:creationId xmlns:a16="http://schemas.microsoft.com/office/drawing/2014/main" id="{6ACE34B2-A095-C67E-60BA-5C6AF90887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40" y="930075"/>
            <a:ext cx="7402799" cy="370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085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4BB8-B12D-FF23-5677-C5316DEC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552" y="-18848"/>
            <a:ext cx="10953670" cy="1719072"/>
          </a:xfrm>
        </p:spPr>
        <p:txBody>
          <a:bodyPr anchor="b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Avg Age of Lowest Scoring Teams Full  season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A912E7-7EE3-89B0-0145-D95ED00D2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552" y="1600200"/>
            <a:ext cx="3810000" cy="3410712"/>
          </a:xfrm>
        </p:spPr>
        <p:txBody>
          <a:bodyPr anchor="t">
            <a:normAutofit fontScale="55000" lnSpcReduction="20000"/>
          </a:bodyPr>
          <a:lstStyle/>
          <a:p>
            <a:pPr marL="0" indent="0">
              <a:buNone/>
            </a:pPr>
            <a:endParaRPr lang="en-US" sz="2200" b="1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 b="1" dirty="0">
                <a:ea typeface="+mn-lt"/>
                <a:cs typeface="+mn-lt"/>
              </a:rPr>
              <a:t>Full Season:</a:t>
            </a:r>
            <a:endParaRPr lang="en-US">
              <a:ea typeface="+mn-lt"/>
              <a:cs typeface="+mn-lt"/>
            </a:endParaRPr>
          </a:p>
          <a:p>
            <a:pPr marL="971550" lvl="1" indent="-285750">
              <a:buFont typeface="Arial"/>
            </a:pPr>
            <a:r>
              <a:rPr lang="en-US" sz="2200" b="1" err="1">
                <a:ea typeface="+mn-lt"/>
                <a:cs typeface="+mn-lt"/>
              </a:rPr>
              <a:t>Apotheos</a:t>
            </a:r>
            <a:r>
              <a:rPr lang="en-US" sz="2200" b="1" dirty="0">
                <a:ea typeface="+mn-lt"/>
                <a:cs typeface="+mn-lt"/>
              </a:rPr>
              <a:t> FC &amp; Patuxent FA</a:t>
            </a:r>
            <a:r>
              <a:rPr lang="en-US" sz="2200" dirty="0">
                <a:ea typeface="+mn-lt"/>
                <a:cs typeface="+mn-lt"/>
              </a:rPr>
              <a:t> (~22+ yrs) → Older, low-scoring profiles.</a:t>
            </a:r>
            <a:endParaRPr lang="en-US" dirty="0">
              <a:ea typeface="+mn-lt"/>
              <a:cs typeface="+mn-lt"/>
            </a:endParaRPr>
          </a:p>
          <a:p>
            <a:pPr marL="971550" lvl="1" indent="-285750">
              <a:buFont typeface="Arial"/>
            </a:pPr>
            <a:r>
              <a:rPr lang="en-US" sz="2200" b="1" dirty="0">
                <a:ea typeface="+mn-lt"/>
                <a:cs typeface="+mn-lt"/>
              </a:rPr>
              <a:t>Colorado International SA</a:t>
            </a:r>
            <a:r>
              <a:rPr lang="en-US" sz="2200" dirty="0">
                <a:ea typeface="+mn-lt"/>
                <a:cs typeface="+mn-lt"/>
              </a:rPr>
              <a:t> → Young, developmental but underproductive.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2200" b="1" dirty="0">
                <a:ea typeface="+mn-lt"/>
                <a:cs typeface="+mn-lt"/>
              </a:rPr>
              <a:t>Older low-scoring teams</a:t>
            </a:r>
            <a:r>
              <a:rPr lang="en-US" sz="2200" dirty="0">
                <a:ea typeface="+mn-lt"/>
                <a:cs typeface="+mn-lt"/>
              </a:rPr>
              <a:t> consistently underperform.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 b="1" dirty="0">
                <a:ea typeface="+mn-lt"/>
                <a:cs typeface="+mn-lt"/>
              </a:rPr>
              <a:t>Very young teams</a:t>
            </a:r>
            <a:r>
              <a:rPr lang="en-US" sz="2200" dirty="0">
                <a:ea typeface="+mn-lt"/>
                <a:cs typeface="+mn-lt"/>
              </a:rPr>
              <a:t> still struggle with finishing efficiency.</a:t>
            </a:r>
            <a:endParaRPr lang="en-US" dirty="0">
              <a:ea typeface="+mn-lt"/>
              <a:cs typeface="+mn-lt"/>
            </a:endParaRPr>
          </a:p>
          <a:p>
            <a:pPr>
              <a:buFont typeface="Arial"/>
            </a:pPr>
            <a:r>
              <a:rPr lang="en-US" sz="2200" dirty="0">
                <a:ea typeface="+mn-lt"/>
                <a:cs typeface="+mn-lt"/>
              </a:rPr>
              <a:t>Wider </a:t>
            </a:r>
            <a:r>
              <a:rPr lang="en-US" sz="2200" b="1" dirty="0">
                <a:ea typeface="+mn-lt"/>
                <a:cs typeface="+mn-lt"/>
              </a:rPr>
              <a:t>age variation</a:t>
            </a:r>
            <a:r>
              <a:rPr lang="en-US" sz="2200" dirty="0">
                <a:ea typeface="+mn-lt"/>
                <a:cs typeface="+mn-lt"/>
              </a:rPr>
              <a:t> vs. top-scoring teams.</a:t>
            </a:r>
          </a:p>
          <a:p>
            <a:pPr marL="0" indent="0">
              <a:buNone/>
            </a:pPr>
            <a:endParaRPr lang="en-US" sz="2200" b="1" dirty="0"/>
          </a:p>
          <a:p>
            <a:endParaRPr lang="en-US" sz="22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890B9CB-1151-CAA7-5A17-22E35F53C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703070"/>
            <a:ext cx="6903720" cy="3451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604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15E36-420D-470E-C8FA-139330608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981" y="2758281"/>
            <a:ext cx="6396038" cy="1349375"/>
          </a:xfrm>
        </p:spPr>
        <p:txBody>
          <a:bodyPr/>
          <a:lstStyle/>
          <a:p>
            <a:r>
              <a:rPr lang="en-US"/>
              <a:t>Game Situational Statistics</a:t>
            </a:r>
          </a:p>
        </p:txBody>
      </p:sp>
    </p:spTree>
    <p:extLst>
      <p:ext uri="{BB962C8B-B14F-4D97-AF65-F5344CB8AC3E}">
        <p14:creationId xmlns:p14="http://schemas.microsoft.com/office/powerpoint/2010/main" val="23589000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338E-64CC-133E-5C05-A37B47651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80" y="5358268"/>
            <a:ext cx="7204271" cy="1094733"/>
          </a:xfrm>
        </p:spPr>
        <p:txBody>
          <a:bodyPr>
            <a:normAutofit/>
          </a:bodyPr>
          <a:lstStyle/>
          <a:p>
            <a:r>
              <a:rPr lang="en-US" dirty="0"/>
              <a:t>Clutch Scorers (½)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CBE83-0DD3-0864-34C4-B60F0D8A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7975" y="418916"/>
            <a:ext cx="4019615" cy="60339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1"/>
              <a:t>Top Clutch Scorers – 2025 USL League Two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Quinn Mahoney – San Juan SC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Leads league with </a:t>
            </a:r>
            <a:r>
              <a:rPr lang="en-US" sz="1400" b="1">
                <a:ea typeface="+mn-lt"/>
                <a:cs typeface="+mn-lt"/>
              </a:rPr>
              <a:t>3 goals after 75’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Composed and impactful in high-pressure moments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Strong playoff/cup-match value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Antonio Delgado – RKC Third Coast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Also scores </a:t>
            </a:r>
            <a:r>
              <a:rPr lang="en-US" sz="1400" b="1">
                <a:ea typeface="+mn-lt"/>
                <a:cs typeface="+mn-lt"/>
              </a:rPr>
              <a:t>3 late goals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Stamina and sharp positioning make him a constant late-game threat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Zac Giles – San Juan SC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2+ late goals alongside Mahoney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Highlights San Juan SC’s possible emphasis on fitness and finishing strong</a:t>
            </a:r>
            <a:endParaRPr lang="en-US" sz="1400"/>
          </a:p>
          <a:p>
            <a:r>
              <a:rPr lang="en-US" sz="1400" b="1">
                <a:ea typeface="+mn-lt"/>
                <a:cs typeface="+mn-lt"/>
              </a:rPr>
              <a:t>Kei Kinoshita – Rochester FC</a:t>
            </a:r>
            <a:br>
              <a:rPr lang="en-US" sz="1400" b="1">
                <a:ea typeface="+mn-lt"/>
                <a:cs typeface="+mn-lt"/>
              </a:rPr>
            </a:br>
            <a:r>
              <a:rPr lang="en-US" sz="1400" b="1">
                <a:ea typeface="+mn-lt"/>
                <a:cs typeface="+mn-lt"/>
              </a:rPr>
              <a:t> Yuta Toya – Tacoma Stars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Each with </a:t>
            </a:r>
            <a:r>
              <a:rPr lang="en-US" sz="1400" b="1">
                <a:ea typeface="+mn-lt"/>
                <a:cs typeface="+mn-lt"/>
              </a:rPr>
              <a:t>2 goals after 75’</a:t>
            </a:r>
            <a:endParaRPr lang="en-US" sz="1400"/>
          </a:p>
          <a:p>
            <a:pPr lvl="1"/>
            <a:r>
              <a:rPr lang="en-US" sz="1400">
                <a:ea typeface="+mn-lt"/>
                <a:cs typeface="+mn-lt"/>
              </a:rPr>
              <a:t>Likely effective impact subs with strong endgame instincts</a:t>
            </a:r>
            <a:endParaRPr lang="en-US" sz="1400"/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D8BD84-FD1F-2178-EE1B-97C43D90CE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85" b="1"/>
          <a:stretch>
            <a:fillRect/>
          </a:stretch>
        </p:blipFill>
        <p:spPr>
          <a:xfrm>
            <a:off x="-1525" y="309374"/>
            <a:ext cx="7452271" cy="46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377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DB7A1-1989-8EFF-A1BF-54D2CF27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680" y="5358268"/>
            <a:ext cx="7204271" cy="1094733"/>
          </a:xfrm>
        </p:spPr>
        <p:txBody>
          <a:bodyPr>
            <a:normAutofit/>
          </a:bodyPr>
          <a:lstStyle/>
          <a:p>
            <a:r>
              <a:rPr lang="en-US" dirty="0"/>
              <a:t>Clutch Teams (½)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22E97-8455-9010-E029-0C20D719C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7559" y="412820"/>
            <a:ext cx="4421951" cy="603390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sz="1100"/>
              <a:t> </a:t>
            </a:r>
            <a:r>
              <a:rPr lang="en-US" sz="1100" b="1"/>
              <a:t>Team-Level Clutch Performance – USL League Two (2025)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San Juan SC – 9 late goals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League leader in goals after 75'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Driven by Quinn Mahoney &amp; Zac Giles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Likely fueled by:</a:t>
            </a:r>
            <a:endParaRPr lang="en-US" sz="1100"/>
          </a:p>
          <a:p>
            <a:pPr lvl="2"/>
            <a:r>
              <a:rPr lang="en-US" sz="1100">
                <a:ea typeface="+mn-lt"/>
                <a:cs typeface="+mn-lt"/>
              </a:rPr>
              <a:t>Strong substitutions</a:t>
            </a:r>
            <a:endParaRPr lang="en-US" sz="1100"/>
          </a:p>
          <a:p>
            <a:pPr lvl="2"/>
            <a:r>
              <a:rPr lang="en-US" sz="1100">
                <a:ea typeface="+mn-lt"/>
                <a:cs typeface="+mn-lt"/>
              </a:rPr>
              <a:t>Superior fitness</a:t>
            </a:r>
            <a:endParaRPr lang="en-US" sz="1100"/>
          </a:p>
          <a:p>
            <a:pPr lvl="2"/>
            <a:r>
              <a:rPr lang="en-US" sz="1100">
                <a:ea typeface="+mn-lt"/>
                <a:cs typeface="+mn-lt"/>
              </a:rPr>
              <a:t>Tactical flexibility late in matches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Laredo Heat SC – 6 late goals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Top clutch team in Texas region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Key player: Ismael Mane (top individual scorer after 75’)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Shows both team structure and individual execution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Clustered Midfield (4–5 Goals)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Teams like Salem City FC, NEFC, Asheville City SC, RKC Third Coast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Inconsistent clutch presence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Useful for spotting:</a:t>
            </a:r>
            <a:endParaRPr lang="en-US" sz="1100"/>
          </a:p>
          <a:p>
            <a:pPr lvl="2"/>
            <a:r>
              <a:rPr lang="en-US" sz="1100" b="1">
                <a:ea typeface="+mn-lt"/>
                <a:cs typeface="+mn-lt"/>
              </a:rPr>
              <a:t>Potential playoff dark horses</a:t>
            </a:r>
            <a:endParaRPr lang="en-US" sz="1100"/>
          </a:p>
          <a:p>
            <a:pPr lvl="2"/>
            <a:r>
              <a:rPr lang="en-US" sz="1100" b="1">
                <a:ea typeface="+mn-lt"/>
                <a:cs typeface="+mn-lt"/>
              </a:rPr>
              <a:t>Late-game vulnerabilities</a:t>
            </a:r>
            <a:endParaRPr lang="en-US" sz="1100"/>
          </a:p>
          <a:p>
            <a:r>
              <a:rPr lang="en-US" sz="1100" b="1">
                <a:ea typeface="+mn-lt"/>
                <a:cs typeface="+mn-lt"/>
              </a:rPr>
              <a:t>Key Insight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Many top-performing teams correlate with strong late-game scoring</a:t>
            </a:r>
            <a:endParaRPr lang="en-US" sz="1100"/>
          </a:p>
          <a:p>
            <a:pPr lvl="1"/>
            <a:r>
              <a:rPr lang="en-US" sz="1100">
                <a:ea typeface="+mn-lt"/>
                <a:cs typeface="+mn-lt"/>
              </a:rPr>
              <a:t>Clutch production may predict </a:t>
            </a:r>
            <a:r>
              <a:rPr lang="en-US" sz="1100" b="1">
                <a:ea typeface="+mn-lt"/>
                <a:cs typeface="+mn-lt"/>
              </a:rPr>
              <a:t>conference standings and playoff success</a:t>
            </a:r>
            <a:endParaRPr lang="en-US" sz="1100"/>
          </a:p>
          <a:p>
            <a:endParaRPr lang="en-US" sz="1100"/>
          </a:p>
        </p:txBody>
      </p:sp>
      <p:pic>
        <p:nvPicPr>
          <p:cNvPr id="4" name="Picture 3" descr="A graph of a number of goals&#10;&#10;AI-generated content may be incorrect.">
            <a:extLst>
              <a:ext uri="{FF2B5EF4-FFF2-40B4-BE49-F238E27FC236}">
                <a16:creationId xmlns:a16="http://schemas.microsoft.com/office/drawing/2014/main" id="{3D75BE83-2B06-3687-D1BB-D4629D7F35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285" b="1"/>
          <a:stretch>
            <a:fillRect/>
          </a:stretch>
        </p:blipFill>
        <p:spPr>
          <a:xfrm>
            <a:off x="419099" y="419102"/>
            <a:ext cx="7129183" cy="4663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86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E61FF-5EA8-6CA3-1B65-501AE34D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and Insights Midseason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F0FD4-B400-FEFB-A6C0-2A4BE2BE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113" y="1897811"/>
            <a:ext cx="9238434" cy="38100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1. Player Scouting: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Evan Howard &amp; Gage Lyons</a:t>
            </a:r>
            <a:r>
              <a:rPr lang="en-US" dirty="0">
                <a:ea typeface="+mn-lt"/>
                <a:cs typeface="+mn-lt"/>
              </a:rPr>
              <a:t> → Late-season breakout scorers.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Carlos Zambrano &amp; Tommy Robertson</a:t>
            </a:r>
            <a:r>
              <a:rPr lang="en-US" dirty="0">
                <a:ea typeface="+mn-lt"/>
                <a:cs typeface="+mn-lt"/>
              </a:rPr>
              <a:t> → High-impact on mid-tier teams → </a:t>
            </a:r>
            <a:r>
              <a:rPr lang="en-US" b="1" dirty="0">
                <a:ea typeface="+mn-lt"/>
                <a:cs typeface="+mn-lt"/>
              </a:rPr>
              <a:t>value signings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2. Development Insights: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Peak production at 20–22</a:t>
            </a:r>
            <a:r>
              <a:rPr lang="en-US" dirty="0">
                <a:ea typeface="+mn-lt"/>
                <a:cs typeface="+mn-lt"/>
              </a:rPr>
              <a:t> → Prioritize this age band for recruitment.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Youth-heavy teams</a:t>
            </a:r>
            <a:r>
              <a:rPr lang="en-US" dirty="0">
                <a:ea typeface="+mn-lt"/>
                <a:cs typeface="+mn-lt"/>
              </a:rPr>
              <a:t> show long-term potential but need finishing development.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3. Tactical Lessons: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Late-game scoring (75’+)</a:t>
            </a:r>
            <a:r>
              <a:rPr lang="en-US" dirty="0">
                <a:ea typeface="+mn-lt"/>
                <a:cs typeface="+mn-lt"/>
              </a:rPr>
              <a:t> is a strong predictor of team success.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b="1" dirty="0">
                <a:ea typeface="+mn-lt"/>
                <a:cs typeface="+mn-lt"/>
              </a:rPr>
              <a:t>Defensive lapses near half-time &amp; full-time</a:t>
            </a:r>
            <a:r>
              <a:rPr lang="en-US" dirty="0">
                <a:ea typeface="+mn-lt"/>
                <a:cs typeface="+mn-lt"/>
              </a:rPr>
              <a:t> remain exploitable opportunities.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Next Steps:</a:t>
            </a:r>
            <a:endParaRPr lang="en-US" dirty="0"/>
          </a:p>
          <a:p>
            <a:pPr lvl="1" indent="-285750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Use these insights to </a:t>
            </a:r>
            <a:r>
              <a:rPr lang="en-US" b="1" dirty="0">
                <a:ea typeface="+mn-lt"/>
                <a:cs typeface="+mn-lt"/>
              </a:rPr>
              <a:t>refine scouting priorities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b="1" dirty="0">
                <a:ea typeface="+mn-lt"/>
                <a:cs typeface="+mn-lt"/>
              </a:rPr>
              <a:t>adjust development models</a:t>
            </a:r>
            <a:r>
              <a:rPr lang="en-US" dirty="0">
                <a:ea typeface="+mn-lt"/>
                <a:cs typeface="+mn-lt"/>
              </a:rPr>
              <a:t>, and </a:t>
            </a:r>
            <a:r>
              <a:rPr lang="en-US" b="1" dirty="0">
                <a:ea typeface="+mn-lt"/>
                <a:cs typeface="+mn-lt"/>
              </a:rPr>
              <a:t>target tactical improvements</a:t>
            </a:r>
            <a:r>
              <a:rPr lang="en-US" dirty="0">
                <a:ea typeface="+mn-lt"/>
                <a:cs typeface="+mn-lt"/>
              </a:rPr>
              <a:t> for 2026.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617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7E46-B466-CD2F-1DA4-4E1F65E4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 and Insights Full Season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A9810-A7D0-7F7D-76BF-369CE48B9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8345466" cy="333375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ea typeface="+mn-lt"/>
                <a:cs typeface="+mn-lt"/>
              </a:rPr>
              <a:t>1. Player Scouting:</a:t>
            </a:r>
          </a:p>
          <a:p>
            <a:pPr lvl="1" indent="-274320"/>
            <a:r>
              <a:rPr lang="en-US" sz="1200" b="0" dirty="0">
                <a:ea typeface="+mn-lt"/>
                <a:cs typeface="+mn-lt"/>
              </a:rPr>
              <a:t> ◦ Evan Howard &amp; Gage Lyons → Emerged as late-season breakout scorers, prime targets for higher-level recruitment.</a:t>
            </a:r>
          </a:p>
          <a:p>
            <a:pPr lvl="1" indent="-274320"/>
            <a:r>
              <a:rPr lang="en-US" sz="1200" dirty="0">
                <a:ea typeface="+mn-lt"/>
                <a:cs typeface="+mn-lt"/>
              </a:rPr>
              <a:t> ◦ Jesse </a:t>
            </a:r>
            <a:r>
              <a:rPr lang="en-US" sz="1200" err="1">
                <a:ea typeface="+mn-lt"/>
                <a:cs typeface="+mn-lt"/>
              </a:rPr>
              <a:t>Wangusi</a:t>
            </a:r>
            <a:r>
              <a:rPr lang="en-US" sz="1200" dirty="0">
                <a:ea typeface="+mn-lt"/>
                <a:cs typeface="+mn-lt"/>
              </a:rPr>
              <a:t> &amp; Carlos Zambrano → Sustained consistent high-level contributions, adding value across multiple attacking metrics.</a:t>
            </a:r>
            <a:endParaRPr lang="en-US" sz="1200" b="0" dirty="0"/>
          </a:p>
          <a:p>
            <a:r>
              <a:rPr lang="en-US" sz="1200" dirty="0">
                <a:ea typeface="+mn-lt"/>
                <a:cs typeface="+mn-lt"/>
              </a:rPr>
              <a:t>2. Development Insights:</a:t>
            </a:r>
          </a:p>
          <a:p>
            <a:pPr lvl="1"/>
            <a:r>
              <a:rPr lang="en-US" sz="1200" dirty="0">
                <a:ea typeface="+mn-lt"/>
                <a:cs typeface="+mn-lt"/>
              </a:rPr>
              <a:t>◦ Peak production at ages 20–22 → Confirms this as the primary recruitment and development age bracket.</a:t>
            </a:r>
            <a:endParaRPr lang="en-US" sz="1200" b="0" dirty="0">
              <a:ea typeface="+mn-lt"/>
              <a:cs typeface="+mn-lt"/>
            </a:endParaRPr>
          </a:p>
          <a:p>
            <a:pPr lvl="1"/>
            <a:r>
              <a:rPr lang="en-US" sz="1200" b="0" dirty="0">
                <a:ea typeface="+mn-lt"/>
                <a:cs typeface="+mn-lt"/>
              </a:rPr>
              <a:t>◦ Youth-driven teams (e.g., San Juan SC) maintained strong output, proving that early developmental investments pay off.</a:t>
            </a:r>
            <a:endParaRPr lang="en-US" sz="1200" b="0" dirty="0"/>
          </a:p>
          <a:p>
            <a:r>
              <a:rPr lang="en-US" sz="1200" dirty="0">
                <a:ea typeface="+mn-lt"/>
                <a:cs typeface="+mn-lt"/>
              </a:rPr>
              <a:t>3. Tactical Lessons:</a:t>
            </a:r>
          </a:p>
          <a:p>
            <a:pPr lvl="1"/>
            <a:r>
              <a:rPr lang="en-US" sz="1200" dirty="0">
                <a:ea typeface="+mn-lt"/>
                <a:cs typeface="+mn-lt"/>
              </a:rPr>
              <a:t>◦ Late-game scoring (75’+) continues to strongly correlate with top team performance and playoff readiness.</a:t>
            </a:r>
            <a:endParaRPr lang="en-US" sz="1200" b="0" dirty="0">
              <a:ea typeface="+mn-lt"/>
              <a:cs typeface="+mn-lt"/>
            </a:endParaRPr>
          </a:p>
          <a:p>
            <a:pPr lvl="1"/>
            <a:r>
              <a:rPr lang="en-US" sz="1200" b="0" dirty="0">
                <a:ea typeface="+mn-lt"/>
                <a:cs typeface="+mn-lt"/>
              </a:rPr>
              <a:t>◦ Teams with multiple top-10 scorers gained a clear competitive advantage across the season.</a:t>
            </a:r>
            <a:endParaRPr lang="en-US" sz="1200" b="0" dirty="0"/>
          </a:p>
          <a:p>
            <a:r>
              <a:rPr lang="en-US" sz="1200" dirty="0">
                <a:ea typeface="+mn-lt"/>
                <a:cs typeface="+mn-lt"/>
              </a:rPr>
              <a:t>4. Next Steps: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  ◦ Refine scouting to prioritize late-season breakout players and maintain development pipelines for 20–22 age groups.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  ◦ Use clutch performance metrics as a predictor for postseason success when evaluating players and teams.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BF5D-4041-7E8B-D8BA-E226C4BB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F13EF-47E6-4CFF-91C0-07F1AFC0401B}" type="datetime1">
              <a:t>8/5/2025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A009B-6A68-CC53-FA5B-A791542DC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E40B4-6A4C-62FF-361A-AC48D35E8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86855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PortalVTI</vt:lpstr>
      <vt:lpstr>USL 2 League Wide Analysis</vt:lpstr>
      <vt:lpstr>How these stats were found</vt:lpstr>
      <vt:lpstr>How I will present the information</vt:lpstr>
      <vt:lpstr>Goals and Assists</vt:lpstr>
      <vt:lpstr>Goals Scored by Minute (½)</vt:lpstr>
      <vt:lpstr>Goals Per 90 Leaders - Midseason</vt:lpstr>
      <vt:lpstr>Top Goal Scorers per 90-  Full Season </vt:lpstr>
      <vt:lpstr>Assist Leaders (Mid-Season)</vt:lpstr>
      <vt:lpstr>Assist per 90 Leaders Midseason</vt:lpstr>
      <vt:lpstr>G/A per 90 Leaders Midseason</vt:lpstr>
      <vt:lpstr>Age-Based Statistics</vt:lpstr>
      <vt:lpstr>Goals Scored By Age - Midseason</vt:lpstr>
      <vt:lpstr>Goals Scored by Age -Full Season</vt:lpstr>
      <vt:lpstr>Avg Age of Highest Scoring teams Midseason</vt:lpstr>
      <vt:lpstr>Avg Age of Highest Scoring teams Full Season</vt:lpstr>
      <vt:lpstr>Avg Age of Lowest Scoring Teams Midseason</vt:lpstr>
      <vt:lpstr>Avg Age of Lowest Scoring Teams Full  season</vt:lpstr>
      <vt:lpstr>Game Situational Statistics</vt:lpstr>
      <vt:lpstr>Clutch Scorers (½)</vt:lpstr>
      <vt:lpstr>Clutch Teams (½)</vt:lpstr>
      <vt:lpstr>Key Takeaways and Insights Midseason</vt:lpstr>
      <vt:lpstr>Key Takeaways and Insights Full Season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305</cp:revision>
  <dcterms:created xsi:type="dcterms:W3CDTF">2025-06-15T21:38:55Z</dcterms:created>
  <dcterms:modified xsi:type="dcterms:W3CDTF">2025-08-05T17:55:30Z</dcterms:modified>
</cp:coreProperties>
</file>